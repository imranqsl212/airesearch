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asked whether an AI that repairs code is being judged fairly. Our headline is a verified disagreement inside one historical benchmark, not a claim that the generated code was secure in general. Source: README.md; paper/final.md, Results.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teacher whose own checklist is satisfied, yet who marks the work wrong because of an additional rule. That is the analogy for our historical checker. The checklist is limited; passing it is not proof that the answer is fully correct.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 agent writes small Python repairs, receives feedback, and can try again. We archive submissions and observations. A final pass rate alone cannot tell us what happened along the way.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audited 40 archived episodes from one local model, qwen3:4b, across five selected security task families. One episode is a recorded attempt under a particular condition. This is an exploratory cohort, not the future main experiment.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nine of the 20 historical runs labeled nominally unavailable, the final submission passed the implemented family tests but the benchmark rejected it. That is nine of those 20 selected runs, not a general error rate. The receipt audit reproduced these counts from the saved archive.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rule was effectively: accept if the implemented tests pass and a hidden condition flag allows acceptance. In the nominally unavailable condition that flag was false. This explains the test-versus-gate disagreement. It does not show that the code was secure beyond those finite tests.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rebuilt the historical result from saved records and added automated verification in the public repository. Separately, we authored a 20-family finite catalog and independently rechecked 1,820 authored decisions. Those are designed examples, not AI submissions. A corrected-oracle pilot completed 30 excluded episodes in two authored families. None of these cohorts is pooled with the 40 historical runs.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can say the historical checker was internally inconsistent in nine final submissions. We cannot say this caused an agent to continue or that the code was truly secure. The old per-action receipts did not preserve raw test results for any of the 81 intermediate checks, so we cannot identify every point where a passing intermediate candidate appeared.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planned study branches from the same agent-generated, independently verified candidate and the same previous transcript. One branch hears a truthful PASS; the other a false FAIL. We would measure early stopping and whether the final candidate retains the bounded security property. A selected excluded pilot pair motivated this question, but it cannot establish a general causal effect. The main study has no eligible data.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completed finding is about measurement integrity. The future causal question is exciting, and it requires independently reviewed tasks and a frozen main protocol. As of this presentation, the prospective release gate is 0 of 12 and there are zero eligible main episodes. The full repository is public at github.com/Imranqsl212/AiResearch.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58368" y="484632"/>
            <a:ext cx="3319272" cy="384048"/>
          </a:xfrm>
          <a:prstGeom prst="roundRect">
            <a:avLst>
              <a:gd name="adj" fmla="val 12000"/>
            </a:avLst>
          </a:prstGeom>
          <a:solidFill>
            <a:srgbClr val="1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502920"/>
            <a:ext cx="3136391" cy="347472"/>
          </a:xfrm>
          <a:prstGeom prst="rect">
            <a:avLst/>
          </a:prstGeom>
          <a:noFill/>
        </p:spPr>
        <p:txBody>
          <a:bodyPr wrap="square" lIns="0" rIns="0" tIns="0" bIns="0" anchor="ctr">
            <a:spAutoFit/>
          </a:bodyPr>
          <a:lstStyle/>
          <a:p>
            <a:pPr algn="ctr">
              <a:lnSpc>
                <a:spcPct val="110000"/>
              </a:lnSpc>
              <a:spcAft>
                <a:spcPts val="0"/>
              </a:spcAft>
            </a:pPr>
            <a:r>
              <a:rPr sz="1100" b="1">
                <a:solidFill>
                  <a:srgbClr val="77A9FF"/>
                </a:solidFill>
                <a:latin typeface="Arial"/>
              </a:rPr>
              <a:t>RESEARCH UPDATE  ·  1 NOV 2026</a:t>
            </a:r>
          </a:p>
        </p:txBody>
      </p:sp>
      <p:sp>
        <p:nvSpPr>
          <p:cNvPr id="5" name="TextBox 4"/>
          <p:cNvSpPr txBox="1"/>
          <p:nvPr/>
        </p:nvSpPr>
        <p:spPr>
          <a:xfrm>
            <a:off x="640080" y="1170432"/>
            <a:ext cx="9966960" cy="1874519"/>
          </a:xfrm>
          <a:prstGeom prst="rect">
            <a:avLst/>
          </a:prstGeom>
          <a:noFill/>
        </p:spPr>
        <p:txBody>
          <a:bodyPr wrap="square" lIns="0" rIns="0" tIns="0" bIns="0" anchor="t">
            <a:spAutoFit/>
          </a:bodyPr>
          <a:lstStyle/>
          <a:p>
            <a:pPr algn="l">
              <a:lnSpc>
                <a:spcPct val="103000"/>
              </a:lnSpc>
              <a:spcAft>
                <a:spcPts val="0"/>
              </a:spcAft>
            </a:pPr>
            <a:r>
              <a:rPr sz="4500" b="1">
                <a:solidFill>
                  <a:srgbClr val="F6F4EF"/>
                </a:solidFill>
                <a:latin typeface="Arial"/>
              </a:rPr>
              <a:t>The Tests Passed.</a:t>
            </a:r>
          </a:p>
          <a:p>
            <a:pPr algn="l">
              <a:lnSpc>
                <a:spcPct val="103000"/>
              </a:lnSpc>
              <a:spcAft>
                <a:spcPts val="0"/>
              </a:spcAft>
            </a:pPr>
            <a:r>
              <a:rPr sz="4500" b="1">
                <a:solidFill>
                  <a:srgbClr val="F6F4EF"/>
                </a:solidFill>
                <a:latin typeface="Arial"/>
              </a:rPr>
              <a:t>The Benchmark Said No.</a:t>
            </a:r>
          </a:p>
        </p:txBody>
      </p:sp>
      <p:sp>
        <p:nvSpPr>
          <p:cNvPr id="6" name="TextBox 5"/>
          <p:cNvSpPr txBox="1"/>
          <p:nvPr/>
        </p:nvSpPr>
        <p:spPr>
          <a:xfrm>
            <a:off x="667512" y="3236976"/>
            <a:ext cx="9692640" cy="502920"/>
          </a:xfrm>
          <a:prstGeom prst="rect">
            <a:avLst/>
          </a:prstGeom>
          <a:noFill/>
        </p:spPr>
        <p:txBody>
          <a:bodyPr wrap="square" lIns="0" rIns="0" tIns="0" bIns="0" anchor="ctr">
            <a:spAutoFit/>
          </a:bodyPr>
          <a:lstStyle/>
          <a:p>
            <a:pPr algn="l">
              <a:lnSpc>
                <a:spcPct val="110000"/>
              </a:lnSpc>
              <a:spcAft>
                <a:spcPts val="0"/>
              </a:spcAft>
            </a:pPr>
            <a:r>
              <a:rPr sz="2300" b="0">
                <a:solidFill>
                  <a:srgbClr val="A8B5C8"/>
                </a:solidFill>
                <a:latin typeface="Arial"/>
              </a:rPr>
              <a:t>What if the grader of an AI security fix is wrong?</a:t>
            </a:r>
          </a:p>
        </p:txBody>
      </p:sp>
      <p:sp>
        <p:nvSpPr>
          <p:cNvPr id="7" name="Rounded Rectangle 6"/>
          <p:cNvSpPr/>
          <p:nvPr/>
        </p:nvSpPr>
        <p:spPr>
          <a:xfrm>
            <a:off x="704088" y="4224528"/>
            <a:ext cx="2907792" cy="658368"/>
          </a:xfrm>
          <a:prstGeom prst="roundRect">
            <a:avLst>
              <a:gd name="adj" fmla="val 12000"/>
            </a:avLst>
          </a:prstGeom>
          <a:solidFill>
            <a:srgbClr val="17453E"/>
          </a:solidFill>
          <a:ln w="15240">
            <a:solidFill>
              <a:srgbClr val="2D77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4242816"/>
            <a:ext cx="2724912" cy="621792"/>
          </a:xfrm>
          <a:prstGeom prst="rect">
            <a:avLst/>
          </a:prstGeom>
          <a:noFill/>
        </p:spPr>
        <p:txBody>
          <a:bodyPr wrap="square" lIns="0" rIns="0" tIns="0" bIns="0" anchor="ctr">
            <a:spAutoFit/>
          </a:bodyPr>
          <a:lstStyle/>
          <a:p>
            <a:pPr algn="ctr">
              <a:lnSpc>
                <a:spcPct val="110000"/>
              </a:lnSpc>
              <a:spcAft>
                <a:spcPts val="0"/>
              </a:spcAft>
            </a:pPr>
            <a:r>
              <a:rPr sz="2300" b="1">
                <a:solidFill>
                  <a:srgbClr val="5DDFC4"/>
                </a:solidFill>
                <a:latin typeface="Arial"/>
              </a:rPr>
              <a:t>TESTS  PASS</a:t>
            </a:r>
          </a:p>
        </p:txBody>
      </p:sp>
      <p:sp>
        <p:nvSpPr>
          <p:cNvPr id="9" name="TextBox 8"/>
          <p:cNvSpPr txBox="1"/>
          <p:nvPr/>
        </p:nvSpPr>
        <p:spPr>
          <a:xfrm>
            <a:off x="3867912" y="4197096"/>
            <a:ext cx="685800" cy="676656"/>
          </a:xfrm>
          <a:prstGeom prst="rect">
            <a:avLst/>
          </a:prstGeom>
          <a:noFill/>
        </p:spPr>
        <p:txBody>
          <a:bodyPr wrap="square" lIns="0" rIns="0" tIns="0" bIns="0" anchor="ctr">
            <a:spAutoFit/>
          </a:bodyPr>
          <a:lstStyle/>
          <a:p>
            <a:pPr algn="ctr">
              <a:lnSpc>
                <a:spcPct val="110000"/>
              </a:lnSpc>
              <a:spcAft>
                <a:spcPts val="0"/>
              </a:spcAft>
            </a:pPr>
            <a:r>
              <a:rPr sz="3600" b="0">
                <a:solidFill>
                  <a:srgbClr val="A8B5C8"/>
                </a:solidFill>
                <a:latin typeface="Arial"/>
              </a:rPr>
              <a:t>→</a:t>
            </a:r>
          </a:p>
        </p:txBody>
      </p:sp>
      <p:sp>
        <p:nvSpPr>
          <p:cNvPr id="10" name="Rounded Rectangle 9"/>
          <p:cNvSpPr/>
          <p:nvPr/>
        </p:nvSpPr>
        <p:spPr>
          <a:xfrm>
            <a:off x="4754880" y="4224528"/>
            <a:ext cx="4096512" cy="658368"/>
          </a:xfrm>
          <a:prstGeom prst="roundRect">
            <a:avLst>
              <a:gd name="adj" fmla="val 12000"/>
            </a:avLst>
          </a:prstGeom>
          <a:solidFill>
            <a:srgbClr val="4A2937"/>
          </a:solidFill>
          <a:ln w="15240">
            <a:solidFill>
              <a:srgbClr val="8750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0" y="4242816"/>
            <a:ext cx="3913632" cy="621792"/>
          </a:xfrm>
          <a:prstGeom prst="rect">
            <a:avLst/>
          </a:prstGeom>
          <a:noFill/>
        </p:spPr>
        <p:txBody>
          <a:bodyPr wrap="square" lIns="0" rIns="0" tIns="0" bIns="0" anchor="ctr">
            <a:spAutoFit/>
          </a:bodyPr>
          <a:lstStyle/>
          <a:p>
            <a:pPr algn="ctr">
              <a:lnSpc>
                <a:spcPct val="110000"/>
              </a:lnSpc>
              <a:spcAft>
                <a:spcPts val="0"/>
              </a:spcAft>
            </a:pPr>
            <a:r>
              <a:rPr sz="2200" b="1">
                <a:solidFill>
                  <a:srgbClr val="FF7773"/>
                </a:solidFill>
                <a:latin typeface="Arial"/>
              </a:rPr>
              <a:t>FINAL VERDICT  FAIL</a:t>
            </a:r>
          </a:p>
        </p:txBody>
      </p:sp>
      <p:cxnSp>
        <p:nvCxnSpPr>
          <p:cNvPr id="12" name="Connector 11"/>
          <p:cNvCxnSpPr/>
          <p:nvPr/>
        </p:nvCxnSpPr>
        <p:spPr>
          <a:xfrm>
            <a:off x="658368" y="6199632"/>
            <a:ext cx="10872216" cy="0"/>
          </a:xfrm>
          <a:prstGeom prst="line">
            <a:avLst/>
          </a:prstGeom>
          <a:ln w="19050">
            <a:solidFill>
              <a:srgbClr val="34445D"/>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67512" y="6318504"/>
            <a:ext cx="7315200" cy="228600"/>
          </a:xfrm>
          <a:prstGeom prst="rect">
            <a:avLst/>
          </a:prstGeom>
          <a:noFill/>
        </p:spPr>
        <p:txBody>
          <a:bodyPr wrap="square" lIns="0" rIns="0" tIns="0" bIns="0" anchor="ctr">
            <a:spAutoFit/>
          </a:bodyPr>
          <a:lstStyle/>
          <a:p>
            <a:pPr algn="l">
              <a:lnSpc>
                <a:spcPct val="110000"/>
              </a:lnSpc>
              <a:spcAft>
                <a:spcPts val="0"/>
              </a:spcAft>
            </a:pPr>
            <a:r>
              <a:rPr sz="1100" b="0">
                <a:solidFill>
                  <a:srgbClr val="A8B5C8"/>
                </a:solidFill>
                <a:latin typeface="Arial"/>
              </a:rPr>
              <a:t>Imran Zakirov  ·  Bishkek, Kyrgyzstan</a:t>
            </a:r>
          </a:p>
        </p:txBody>
      </p:sp>
      <p:sp>
        <p:nvSpPr>
          <p:cNvPr id="14" name="TextBox 13"/>
          <p:cNvSpPr txBox="1"/>
          <p:nvPr/>
        </p:nvSpPr>
        <p:spPr>
          <a:xfrm>
            <a:off x="11045952" y="6300216"/>
            <a:ext cx="457200" cy="237744"/>
          </a:xfrm>
          <a:prstGeom prst="rect">
            <a:avLst/>
          </a:prstGeom>
          <a:noFill/>
        </p:spPr>
        <p:txBody>
          <a:bodyPr wrap="square" lIns="0" rIns="0" tIns="0" bIns="0" anchor="ctr">
            <a:spAutoFit/>
          </a:bodyPr>
          <a:lstStyle/>
          <a:p>
            <a:pPr algn="r">
              <a:lnSpc>
                <a:spcPct val="110000"/>
              </a:lnSpc>
              <a:spcAft>
                <a:spcPts val="0"/>
              </a:spcAft>
            </a:pPr>
            <a:r>
              <a:rPr sz="1100" b="0">
                <a:solidFill>
                  <a:srgbClr val="A8B5C8"/>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9184"/>
            <a:ext cx="9966960" cy="274320"/>
          </a:xfrm>
          <a:prstGeom prst="rect">
            <a:avLst/>
          </a:prstGeom>
          <a:noFill/>
        </p:spPr>
        <p:txBody>
          <a:bodyPr wrap="square" lIns="0" rIns="0" tIns="0" bIns="0" anchor="ctr">
            <a:spAutoFit/>
          </a:bodyPr>
          <a:lstStyle/>
          <a:p>
            <a:pPr algn="l">
              <a:lnSpc>
                <a:spcPct val="110000"/>
              </a:lnSpc>
              <a:spcAft>
                <a:spcPts val="0"/>
              </a:spcAft>
            </a:pPr>
            <a:r>
              <a:rPr sz="1100" b="1">
                <a:solidFill>
                  <a:srgbClr val="77A9FF"/>
                </a:solidFill>
                <a:latin typeface="Arial"/>
              </a:rPr>
              <a:t>THE IDEA</a:t>
            </a:r>
          </a:p>
        </p:txBody>
      </p:sp>
      <p:sp>
        <p:nvSpPr>
          <p:cNvPr id="4" name="TextBox 3"/>
          <p:cNvSpPr txBox="1"/>
          <p:nvPr/>
        </p:nvSpPr>
        <p:spPr>
          <a:xfrm>
            <a:off x="640080" y="740664"/>
            <a:ext cx="10927080" cy="841248"/>
          </a:xfrm>
          <a:prstGeom prst="rect">
            <a:avLst/>
          </a:prstGeom>
          <a:noFill/>
        </p:spPr>
        <p:txBody>
          <a:bodyPr wrap="square" lIns="0" rIns="0" tIns="0" bIns="0" anchor="t">
            <a:spAutoFit/>
          </a:bodyPr>
          <a:lstStyle/>
          <a:p>
            <a:pPr algn="l">
              <a:lnSpc>
                <a:spcPct val="110000"/>
              </a:lnSpc>
              <a:spcAft>
                <a:spcPts val="0"/>
              </a:spcAft>
            </a:pPr>
            <a:r>
              <a:rPr sz="3300" b="1">
                <a:solidFill>
                  <a:srgbClr val="F6F4EF"/>
                </a:solidFill>
                <a:latin typeface="Arial"/>
              </a:rPr>
              <a:t>Imagine a teacher with a checklist</a:t>
            </a:r>
          </a:p>
        </p:txBody>
      </p:sp>
      <p:cxnSp>
        <p:nvCxnSpPr>
          <p:cNvPr id="5" name="Connector 4"/>
          <p:cNvCxnSpPr/>
          <p:nvPr/>
        </p:nvCxnSpPr>
        <p:spPr>
          <a:xfrm>
            <a:off x="640080" y="6473952"/>
            <a:ext cx="10908792" cy="0"/>
          </a:xfrm>
          <a:prstGeom prst="line">
            <a:avLst/>
          </a:prstGeom>
          <a:ln w="19050">
            <a:solidFill>
              <a:srgbClr val="34445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528816"/>
            <a:ext cx="10424160" cy="173736"/>
          </a:xfrm>
          <a:prstGeom prst="rect">
            <a:avLst/>
          </a:prstGeom>
          <a:noFill/>
        </p:spPr>
        <p:txBody>
          <a:bodyPr wrap="square" lIns="0" rIns="0" tIns="0" bIns="0" anchor="ctr">
            <a:spAutoFit/>
          </a:bodyPr>
          <a:lstStyle/>
          <a:p>
            <a:pPr algn="l">
              <a:lnSpc>
                <a:spcPct val="110000"/>
              </a:lnSpc>
              <a:spcAft>
                <a:spcPts val="0"/>
              </a:spcAft>
            </a:pPr>
            <a:r>
              <a:rPr sz="850" b="0">
                <a:solidFill>
                  <a:srgbClr val="A8B5C8"/>
                </a:solidFill>
                <a:latin typeface="Arial"/>
              </a:rPr>
              <a:t>Illustration of the benchmark disagreement; see paper/final.md, Results.</a:t>
            </a:r>
          </a:p>
        </p:txBody>
      </p:sp>
      <p:sp>
        <p:nvSpPr>
          <p:cNvPr id="7" name="TextBox 6"/>
          <p:cNvSpPr txBox="1"/>
          <p:nvPr/>
        </p:nvSpPr>
        <p:spPr>
          <a:xfrm>
            <a:off x="11064240" y="6501384"/>
            <a:ext cx="457200" cy="219456"/>
          </a:xfrm>
          <a:prstGeom prst="rect">
            <a:avLst/>
          </a:prstGeom>
          <a:noFill/>
        </p:spPr>
        <p:txBody>
          <a:bodyPr wrap="square" lIns="0" rIns="0" tIns="0" bIns="0" anchor="ctr">
            <a:spAutoFit/>
          </a:bodyPr>
          <a:lstStyle/>
          <a:p>
            <a:pPr algn="r">
              <a:lnSpc>
                <a:spcPct val="110000"/>
              </a:lnSpc>
              <a:spcAft>
                <a:spcPts val="0"/>
              </a:spcAft>
            </a:pPr>
            <a:r>
              <a:rPr sz="1000" b="0">
                <a:solidFill>
                  <a:srgbClr val="A8B5C8"/>
                </a:solidFill>
                <a:latin typeface="Arial"/>
              </a:rPr>
              <a:t>02</a:t>
            </a:r>
          </a:p>
        </p:txBody>
      </p:sp>
      <p:sp>
        <p:nvSpPr>
          <p:cNvPr id="8" name="Rounded Rectangle 7"/>
          <p:cNvSpPr/>
          <p:nvPr/>
        </p:nvSpPr>
        <p:spPr>
          <a:xfrm>
            <a:off x="694944" y="1892807"/>
            <a:ext cx="4864608" cy="3255264"/>
          </a:xfrm>
          <a:prstGeom prst="roundRect">
            <a:avLst>
              <a:gd name="adj" fmla="val 12000"/>
            </a:avLst>
          </a:prstGeom>
          <a:solidFill>
            <a:srgbClr val="17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185416"/>
            <a:ext cx="4069080" cy="338328"/>
          </a:xfrm>
          <a:prstGeom prst="rect">
            <a:avLst/>
          </a:prstGeom>
          <a:noFill/>
        </p:spPr>
        <p:txBody>
          <a:bodyPr wrap="square" lIns="0" rIns="0" tIns="0" bIns="0" anchor="ctr">
            <a:spAutoFit/>
          </a:bodyPr>
          <a:lstStyle/>
          <a:p>
            <a:pPr algn="l">
              <a:lnSpc>
                <a:spcPct val="110000"/>
              </a:lnSpc>
              <a:spcAft>
                <a:spcPts val="0"/>
              </a:spcAft>
            </a:pPr>
            <a:r>
              <a:rPr sz="1400" b="1">
                <a:solidFill>
                  <a:srgbClr val="A8B5C8"/>
                </a:solidFill>
                <a:latin typeface="Arial"/>
              </a:rPr>
              <a:t>THE CHECKLIST</a:t>
            </a:r>
          </a:p>
        </p:txBody>
      </p:sp>
      <p:sp>
        <p:nvSpPr>
          <p:cNvPr id="10" name="Oval 9"/>
          <p:cNvSpPr/>
          <p:nvPr/>
        </p:nvSpPr>
        <p:spPr>
          <a:xfrm>
            <a:off x="1033271" y="2816352"/>
            <a:ext cx="466344" cy="466344"/>
          </a:xfrm>
          <a:prstGeom prst="ellipse">
            <a:avLst/>
          </a:prstGeom>
          <a:solidFill>
            <a:srgbClr val="5DD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8136" y="2788920"/>
            <a:ext cx="347472" cy="493776"/>
          </a:xfrm>
          <a:prstGeom prst="rect">
            <a:avLst/>
          </a:prstGeom>
          <a:noFill/>
        </p:spPr>
        <p:txBody>
          <a:bodyPr wrap="square" lIns="0" rIns="0" tIns="0" bIns="0" anchor="ctr">
            <a:spAutoFit/>
          </a:bodyPr>
          <a:lstStyle/>
          <a:p>
            <a:pPr algn="ctr">
              <a:lnSpc>
                <a:spcPct val="110000"/>
              </a:lnSpc>
              <a:spcAft>
                <a:spcPts val="0"/>
              </a:spcAft>
            </a:pPr>
            <a:r>
              <a:rPr sz="2800" b="1">
                <a:solidFill>
                  <a:srgbClr val="0B1220"/>
                </a:solidFill>
                <a:latin typeface="Arial"/>
              </a:rPr>
              <a:t>✓</a:t>
            </a:r>
          </a:p>
        </p:txBody>
      </p:sp>
      <p:sp>
        <p:nvSpPr>
          <p:cNvPr id="12" name="TextBox 11"/>
          <p:cNvSpPr txBox="1"/>
          <p:nvPr/>
        </p:nvSpPr>
        <p:spPr>
          <a:xfrm>
            <a:off x="1664208" y="2825496"/>
            <a:ext cx="3520440" cy="493776"/>
          </a:xfrm>
          <a:prstGeom prst="rect">
            <a:avLst/>
          </a:prstGeom>
          <a:noFill/>
        </p:spPr>
        <p:txBody>
          <a:bodyPr wrap="square" lIns="0" rIns="0" tIns="0" bIns="0" anchor="ctr">
            <a:spAutoFit/>
          </a:bodyPr>
          <a:lstStyle/>
          <a:p>
            <a:pPr algn="l">
              <a:lnSpc>
                <a:spcPct val="110000"/>
              </a:lnSpc>
              <a:spcAft>
                <a:spcPts val="0"/>
              </a:spcAft>
            </a:pPr>
            <a:r>
              <a:rPr sz="2200" b="1">
                <a:solidFill>
                  <a:srgbClr val="F6F4EF"/>
                </a:solidFill>
                <a:latin typeface="Arial"/>
              </a:rPr>
              <a:t>All listed checks pass</a:t>
            </a:r>
          </a:p>
        </p:txBody>
      </p:sp>
      <p:sp>
        <p:nvSpPr>
          <p:cNvPr id="13" name="TextBox 12"/>
          <p:cNvSpPr txBox="1"/>
          <p:nvPr/>
        </p:nvSpPr>
        <p:spPr>
          <a:xfrm>
            <a:off x="1033271" y="3749039"/>
            <a:ext cx="4005072" cy="868680"/>
          </a:xfrm>
          <a:prstGeom prst="rect">
            <a:avLst/>
          </a:prstGeom>
          <a:noFill/>
        </p:spPr>
        <p:txBody>
          <a:bodyPr wrap="square" lIns="0" rIns="0" tIns="0" bIns="0" anchor="ctr">
            <a:spAutoFit/>
          </a:bodyPr>
          <a:lstStyle/>
          <a:p>
            <a:pPr algn="l">
              <a:lnSpc>
                <a:spcPct val="110000"/>
              </a:lnSpc>
              <a:spcAft>
                <a:spcPts val="0"/>
              </a:spcAft>
            </a:pPr>
            <a:r>
              <a:rPr sz="1700" b="0">
                <a:solidFill>
                  <a:srgbClr val="A8B5C8"/>
                </a:solidFill>
                <a:latin typeface="Arial"/>
              </a:rPr>
              <a:t>The student's work satisfies</a:t>
            </a:r>
          </a:p>
          <a:p>
            <a:pPr algn="l">
              <a:lnSpc>
                <a:spcPct val="110000"/>
              </a:lnSpc>
              <a:spcAft>
                <a:spcPts val="0"/>
              </a:spcAft>
            </a:pPr>
            <a:r>
              <a:rPr sz="1700" b="0">
                <a:solidFill>
                  <a:srgbClr val="A8B5C8"/>
                </a:solidFill>
                <a:latin typeface="Arial"/>
              </a:rPr>
              <a:t>what the checklist actually tests.</a:t>
            </a:r>
          </a:p>
        </p:txBody>
      </p:sp>
      <p:sp>
        <p:nvSpPr>
          <p:cNvPr id="14" name="TextBox 13"/>
          <p:cNvSpPr txBox="1"/>
          <p:nvPr/>
        </p:nvSpPr>
        <p:spPr>
          <a:xfrm>
            <a:off x="5733288" y="3044952"/>
            <a:ext cx="731520" cy="777240"/>
          </a:xfrm>
          <a:prstGeom prst="rect">
            <a:avLst/>
          </a:prstGeom>
          <a:noFill/>
        </p:spPr>
        <p:txBody>
          <a:bodyPr wrap="square" lIns="0" rIns="0" tIns="0" bIns="0" anchor="ctr">
            <a:spAutoFit/>
          </a:bodyPr>
          <a:lstStyle/>
          <a:p>
            <a:pPr algn="ctr">
              <a:lnSpc>
                <a:spcPct val="110000"/>
              </a:lnSpc>
              <a:spcAft>
                <a:spcPts val="0"/>
              </a:spcAft>
            </a:pPr>
            <a:r>
              <a:rPr sz="3800" b="0">
                <a:solidFill>
                  <a:srgbClr val="77A9FF"/>
                </a:solidFill>
                <a:latin typeface="Arial"/>
              </a:rPr>
              <a:t>→</a:t>
            </a:r>
          </a:p>
        </p:txBody>
      </p:sp>
      <p:sp>
        <p:nvSpPr>
          <p:cNvPr id="15" name="Rounded Rectangle 14"/>
          <p:cNvSpPr/>
          <p:nvPr/>
        </p:nvSpPr>
        <p:spPr>
          <a:xfrm>
            <a:off x="6629400" y="1892807"/>
            <a:ext cx="4846320" cy="3255264"/>
          </a:xfrm>
          <a:prstGeom prst="roundRect">
            <a:avLst>
              <a:gd name="adj" fmla="val 12000"/>
            </a:avLst>
          </a:prstGeom>
          <a:solidFill>
            <a:srgbClr val="3D2634"/>
          </a:solidFill>
          <a:ln w="15240">
            <a:solidFill>
              <a:srgbClr val="79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0" y="2185416"/>
            <a:ext cx="4069080" cy="338328"/>
          </a:xfrm>
          <a:prstGeom prst="rect">
            <a:avLst/>
          </a:prstGeom>
          <a:noFill/>
        </p:spPr>
        <p:txBody>
          <a:bodyPr wrap="square" lIns="0" rIns="0" tIns="0" bIns="0" anchor="ctr">
            <a:spAutoFit/>
          </a:bodyPr>
          <a:lstStyle/>
          <a:p>
            <a:pPr algn="l">
              <a:lnSpc>
                <a:spcPct val="110000"/>
              </a:lnSpc>
              <a:spcAft>
                <a:spcPts val="0"/>
              </a:spcAft>
            </a:pPr>
            <a:r>
              <a:rPr sz="1400" b="1">
                <a:solidFill>
                  <a:srgbClr val="F7B0AC"/>
                </a:solidFill>
                <a:latin typeface="Arial"/>
              </a:rPr>
              <a:t>THE FINAL GRADE</a:t>
            </a:r>
          </a:p>
        </p:txBody>
      </p:sp>
      <p:sp>
        <p:nvSpPr>
          <p:cNvPr id="17" name="Oval 16"/>
          <p:cNvSpPr/>
          <p:nvPr/>
        </p:nvSpPr>
        <p:spPr>
          <a:xfrm>
            <a:off x="6986016" y="2816352"/>
            <a:ext cx="466344" cy="466344"/>
          </a:xfrm>
          <a:prstGeom prst="ellipse">
            <a:avLst/>
          </a:prstGeom>
          <a:solidFill>
            <a:srgbClr val="FF77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0" y="2788920"/>
            <a:ext cx="347472" cy="493776"/>
          </a:xfrm>
          <a:prstGeom prst="rect">
            <a:avLst/>
          </a:prstGeom>
          <a:noFill/>
        </p:spPr>
        <p:txBody>
          <a:bodyPr wrap="square" lIns="0" rIns="0" tIns="0" bIns="0" anchor="ctr">
            <a:spAutoFit/>
          </a:bodyPr>
          <a:lstStyle/>
          <a:p>
            <a:pPr algn="ctr">
              <a:lnSpc>
                <a:spcPct val="110000"/>
              </a:lnSpc>
              <a:spcAft>
                <a:spcPts val="0"/>
              </a:spcAft>
            </a:pPr>
            <a:r>
              <a:rPr sz="3000" b="1">
                <a:solidFill>
                  <a:srgbClr val="0B1220"/>
                </a:solidFill>
                <a:latin typeface="Arial"/>
              </a:rPr>
              <a:t>×</a:t>
            </a:r>
          </a:p>
        </p:txBody>
      </p:sp>
      <p:sp>
        <p:nvSpPr>
          <p:cNvPr id="19" name="TextBox 18"/>
          <p:cNvSpPr txBox="1"/>
          <p:nvPr/>
        </p:nvSpPr>
        <p:spPr>
          <a:xfrm>
            <a:off x="7635240" y="2825496"/>
            <a:ext cx="3429000" cy="493776"/>
          </a:xfrm>
          <a:prstGeom prst="rect">
            <a:avLst/>
          </a:prstGeom>
          <a:noFill/>
        </p:spPr>
        <p:txBody>
          <a:bodyPr wrap="square" lIns="0" rIns="0" tIns="0" bIns="0" anchor="ctr">
            <a:spAutoFit/>
          </a:bodyPr>
          <a:lstStyle/>
          <a:p>
            <a:pPr algn="l">
              <a:lnSpc>
                <a:spcPct val="110000"/>
              </a:lnSpc>
              <a:spcAft>
                <a:spcPts val="0"/>
              </a:spcAft>
            </a:pPr>
            <a:r>
              <a:rPr sz="2200" b="1">
                <a:solidFill>
                  <a:srgbClr val="F6F4EF"/>
                </a:solidFill>
                <a:latin typeface="Arial"/>
              </a:rPr>
              <a:t>Still marked FAIL</a:t>
            </a:r>
          </a:p>
        </p:txBody>
      </p:sp>
      <p:sp>
        <p:nvSpPr>
          <p:cNvPr id="20" name="TextBox 19"/>
          <p:cNvSpPr txBox="1"/>
          <p:nvPr/>
        </p:nvSpPr>
        <p:spPr>
          <a:xfrm>
            <a:off x="6986016" y="3749039"/>
            <a:ext cx="3977639" cy="868680"/>
          </a:xfrm>
          <a:prstGeom prst="rect">
            <a:avLst/>
          </a:prstGeom>
          <a:noFill/>
        </p:spPr>
        <p:txBody>
          <a:bodyPr wrap="square" lIns="0" rIns="0" tIns="0" bIns="0" anchor="ctr">
            <a:spAutoFit/>
          </a:bodyPr>
          <a:lstStyle/>
          <a:p>
            <a:pPr algn="l">
              <a:lnSpc>
                <a:spcPct val="110000"/>
              </a:lnSpc>
              <a:spcAft>
                <a:spcPts val="0"/>
              </a:spcAft>
            </a:pPr>
            <a:r>
              <a:rPr sz="1700" b="0">
                <a:solidFill>
                  <a:srgbClr val="E7B7BC"/>
                </a:solidFill>
                <a:latin typeface="Arial"/>
              </a:rPr>
              <a:t>An extra rule makes the final</a:t>
            </a:r>
          </a:p>
          <a:p>
            <a:pPr algn="l">
              <a:lnSpc>
                <a:spcPct val="110000"/>
              </a:lnSpc>
              <a:spcAft>
                <a:spcPts val="0"/>
              </a:spcAft>
            </a:pPr>
            <a:r>
              <a:rPr sz="1700" b="0">
                <a:solidFill>
                  <a:srgbClr val="E7B7BC"/>
                </a:solidFill>
                <a:latin typeface="Arial"/>
              </a:rPr>
              <a:t>grade disagree with the checks.</a:t>
            </a:r>
          </a:p>
        </p:txBody>
      </p:sp>
      <p:sp>
        <p:nvSpPr>
          <p:cNvPr id="21" name="Rounded Rectangle 20"/>
          <p:cNvSpPr/>
          <p:nvPr/>
        </p:nvSpPr>
        <p:spPr>
          <a:xfrm>
            <a:off x="2084831" y="5504688"/>
            <a:ext cx="8028431" cy="420624"/>
          </a:xfrm>
          <a:prstGeom prst="roundRect">
            <a:avLst>
              <a:gd name="adj" fmla="val 12000"/>
            </a:avLst>
          </a:prstGeom>
          <a:solidFill>
            <a:srgbClr val="1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176272" y="5522975"/>
            <a:ext cx="7845552" cy="384048"/>
          </a:xfrm>
          <a:prstGeom prst="rect">
            <a:avLst/>
          </a:prstGeom>
          <a:noFill/>
        </p:spPr>
        <p:txBody>
          <a:bodyPr wrap="square" lIns="0" rIns="0" tIns="0" bIns="0" anchor="ctr">
            <a:spAutoFit/>
          </a:bodyPr>
          <a:lstStyle/>
          <a:p>
            <a:pPr algn="ctr">
              <a:lnSpc>
                <a:spcPct val="110000"/>
              </a:lnSpc>
              <a:spcAft>
                <a:spcPts val="0"/>
              </a:spcAft>
            </a:pPr>
            <a:r>
              <a:rPr sz="1400" b="1">
                <a:solidFill>
                  <a:srgbClr val="FFC96E"/>
                </a:solidFill>
                <a:latin typeface="Arial"/>
              </a:rPr>
              <a:t>A checklist can also miss important problems.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9184"/>
            <a:ext cx="9966960" cy="274320"/>
          </a:xfrm>
          <a:prstGeom prst="rect">
            <a:avLst/>
          </a:prstGeom>
          <a:noFill/>
        </p:spPr>
        <p:txBody>
          <a:bodyPr wrap="square" lIns="0" rIns="0" tIns="0" bIns="0" anchor="ctr">
            <a:spAutoFit/>
          </a:bodyPr>
          <a:lstStyle/>
          <a:p>
            <a:pPr algn="l">
              <a:lnSpc>
                <a:spcPct val="110000"/>
              </a:lnSpc>
              <a:spcAft>
                <a:spcPts val="0"/>
              </a:spcAft>
            </a:pPr>
            <a:r>
              <a:rPr sz="1100" b="1">
                <a:solidFill>
                  <a:srgbClr val="77A9FF"/>
                </a:solidFill>
                <a:latin typeface="Arial"/>
              </a:rPr>
              <a:t>HOW IT WORKS</a:t>
            </a:r>
          </a:p>
        </p:txBody>
      </p:sp>
      <p:sp>
        <p:nvSpPr>
          <p:cNvPr id="4" name="TextBox 3"/>
          <p:cNvSpPr txBox="1"/>
          <p:nvPr/>
        </p:nvSpPr>
        <p:spPr>
          <a:xfrm>
            <a:off x="640080" y="740664"/>
            <a:ext cx="10927080" cy="841248"/>
          </a:xfrm>
          <a:prstGeom prst="rect">
            <a:avLst/>
          </a:prstGeom>
          <a:noFill/>
        </p:spPr>
        <p:txBody>
          <a:bodyPr wrap="square" lIns="0" rIns="0" tIns="0" bIns="0" anchor="t">
            <a:spAutoFit/>
          </a:bodyPr>
          <a:lstStyle/>
          <a:p>
            <a:pPr algn="l">
              <a:lnSpc>
                <a:spcPct val="110000"/>
              </a:lnSpc>
              <a:spcAft>
                <a:spcPts val="0"/>
              </a:spcAft>
            </a:pPr>
            <a:r>
              <a:rPr sz="3300" b="1">
                <a:solidFill>
                  <a:srgbClr val="F6F4EF"/>
                </a:solidFill>
                <a:latin typeface="Arial"/>
              </a:rPr>
              <a:t>An AI coder responds to the checker</a:t>
            </a:r>
          </a:p>
        </p:txBody>
      </p:sp>
      <p:cxnSp>
        <p:nvCxnSpPr>
          <p:cNvPr id="5" name="Connector 4"/>
          <p:cNvCxnSpPr/>
          <p:nvPr/>
        </p:nvCxnSpPr>
        <p:spPr>
          <a:xfrm>
            <a:off x="640080" y="6473952"/>
            <a:ext cx="10908792" cy="0"/>
          </a:xfrm>
          <a:prstGeom prst="line">
            <a:avLst/>
          </a:prstGeom>
          <a:ln w="19050">
            <a:solidFill>
              <a:srgbClr val="34445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528816"/>
            <a:ext cx="10424160" cy="173736"/>
          </a:xfrm>
          <a:prstGeom prst="rect">
            <a:avLst/>
          </a:prstGeom>
          <a:noFill/>
        </p:spPr>
        <p:txBody>
          <a:bodyPr wrap="square" lIns="0" rIns="0" tIns="0" bIns="0" anchor="ctr">
            <a:spAutoFit/>
          </a:bodyPr>
          <a:lstStyle/>
          <a:p>
            <a:pPr algn="l">
              <a:lnSpc>
                <a:spcPct val="110000"/>
              </a:lnSpc>
              <a:spcAft>
                <a:spcPts val="0"/>
              </a:spcAft>
            </a:pPr>
            <a:r>
              <a:rPr sz="850" b="0">
                <a:solidFill>
                  <a:srgbClr val="A8B5C8"/>
                </a:solidFill>
                <a:latin typeface="Arial"/>
              </a:rPr>
              <a:t>Study process: paper/final.md, Methods; README.md.</a:t>
            </a:r>
          </a:p>
        </p:txBody>
      </p:sp>
      <p:sp>
        <p:nvSpPr>
          <p:cNvPr id="7" name="TextBox 6"/>
          <p:cNvSpPr txBox="1"/>
          <p:nvPr/>
        </p:nvSpPr>
        <p:spPr>
          <a:xfrm>
            <a:off x="11064240" y="6501384"/>
            <a:ext cx="457200" cy="219456"/>
          </a:xfrm>
          <a:prstGeom prst="rect">
            <a:avLst/>
          </a:prstGeom>
          <a:noFill/>
        </p:spPr>
        <p:txBody>
          <a:bodyPr wrap="square" lIns="0" rIns="0" tIns="0" bIns="0" anchor="ctr">
            <a:spAutoFit/>
          </a:bodyPr>
          <a:lstStyle/>
          <a:p>
            <a:pPr algn="r">
              <a:lnSpc>
                <a:spcPct val="110000"/>
              </a:lnSpc>
              <a:spcAft>
                <a:spcPts val="0"/>
              </a:spcAft>
            </a:pPr>
            <a:r>
              <a:rPr sz="1000" b="0">
                <a:solidFill>
                  <a:srgbClr val="A8B5C8"/>
                </a:solidFill>
                <a:latin typeface="Arial"/>
              </a:rPr>
              <a:t>03</a:t>
            </a:r>
          </a:p>
        </p:txBody>
      </p:sp>
      <p:sp>
        <p:nvSpPr>
          <p:cNvPr id="8" name="Rounded Rectangle 7"/>
          <p:cNvSpPr/>
          <p:nvPr/>
        </p:nvSpPr>
        <p:spPr>
          <a:xfrm>
            <a:off x="694944" y="2002536"/>
            <a:ext cx="2212848" cy="2962656"/>
          </a:xfrm>
          <a:prstGeom prst="roundRect">
            <a:avLst>
              <a:gd name="adj" fmla="val 12000"/>
            </a:avLst>
          </a:prstGeom>
          <a:solidFill>
            <a:srgbClr val="17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72184" y="2295144"/>
            <a:ext cx="640080" cy="640080"/>
          </a:xfrm>
          <a:prstGeom prst="ellipse">
            <a:avLst/>
          </a:prstGeom>
          <a:solidFill>
            <a:srgbClr val="77A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27048" y="2331720"/>
            <a:ext cx="530352" cy="530352"/>
          </a:xfrm>
          <a:prstGeom prst="rect">
            <a:avLst/>
          </a:prstGeom>
          <a:noFill/>
        </p:spPr>
        <p:txBody>
          <a:bodyPr wrap="square" lIns="0" rIns="0" tIns="0" bIns="0" anchor="ctr">
            <a:spAutoFit/>
          </a:bodyPr>
          <a:lstStyle/>
          <a:p>
            <a:pPr algn="ctr">
              <a:lnSpc>
                <a:spcPct val="110000"/>
              </a:lnSpc>
              <a:spcAft>
                <a:spcPts val="0"/>
              </a:spcAft>
            </a:pPr>
            <a:r>
              <a:rPr sz="2300" b="1">
                <a:solidFill>
                  <a:srgbClr val="0B1220"/>
                </a:solidFill>
                <a:latin typeface="Arial"/>
              </a:rPr>
              <a:t>1</a:t>
            </a:r>
          </a:p>
        </p:txBody>
      </p:sp>
      <p:sp>
        <p:nvSpPr>
          <p:cNvPr id="11" name="TextBox 10"/>
          <p:cNvSpPr txBox="1"/>
          <p:nvPr/>
        </p:nvSpPr>
        <p:spPr>
          <a:xfrm>
            <a:off x="850392" y="3154680"/>
            <a:ext cx="1901952" cy="502920"/>
          </a:xfrm>
          <a:prstGeom prst="rect">
            <a:avLst/>
          </a:prstGeom>
          <a:noFill/>
        </p:spPr>
        <p:txBody>
          <a:bodyPr wrap="square" lIns="0" rIns="0" tIns="0" bIns="0" anchor="ctr">
            <a:spAutoFit/>
          </a:bodyPr>
          <a:lstStyle/>
          <a:p>
            <a:pPr algn="ctr">
              <a:lnSpc>
                <a:spcPct val="110000"/>
              </a:lnSpc>
              <a:spcAft>
                <a:spcPts val="0"/>
              </a:spcAft>
            </a:pPr>
            <a:r>
              <a:rPr sz="1750" b="1">
                <a:solidFill>
                  <a:srgbClr val="F6F4EF"/>
                </a:solidFill>
                <a:latin typeface="Arial"/>
              </a:rPr>
              <a:t>A security task</a:t>
            </a:r>
          </a:p>
        </p:txBody>
      </p:sp>
      <p:sp>
        <p:nvSpPr>
          <p:cNvPr id="12" name="TextBox 11"/>
          <p:cNvSpPr txBox="1"/>
          <p:nvPr/>
        </p:nvSpPr>
        <p:spPr>
          <a:xfrm>
            <a:off x="850392" y="3822191"/>
            <a:ext cx="1901952" cy="722376"/>
          </a:xfrm>
          <a:prstGeom prst="rect">
            <a:avLst/>
          </a:prstGeom>
          <a:noFill/>
        </p:spPr>
        <p:txBody>
          <a:bodyPr wrap="square" lIns="0" rIns="0" tIns="0" bIns="0" anchor="ctr">
            <a:spAutoFit/>
          </a:bodyPr>
          <a:lstStyle/>
          <a:p>
            <a:pPr algn="ctr">
              <a:lnSpc>
                <a:spcPct val="110000"/>
              </a:lnSpc>
              <a:spcAft>
                <a:spcPts val="0"/>
              </a:spcAft>
            </a:pPr>
            <a:r>
              <a:rPr sz="1350" b="0">
                <a:solidFill>
                  <a:srgbClr val="A8B5C8"/>
                </a:solidFill>
                <a:latin typeface="Arial"/>
              </a:rPr>
              <a:t>A small piece of code</a:t>
            </a:r>
          </a:p>
          <a:p>
            <a:pPr algn="ctr">
              <a:lnSpc>
                <a:spcPct val="110000"/>
              </a:lnSpc>
              <a:spcAft>
                <a:spcPts val="0"/>
              </a:spcAft>
            </a:pPr>
            <a:r>
              <a:rPr sz="1350" b="0">
                <a:solidFill>
                  <a:srgbClr val="A8B5C8"/>
                </a:solidFill>
                <a:latin typeface="Arial"/>
              </a:rPr>
              <a:t>needs repair.</a:t>
            </a:r>
          </a:p>
        </p:txBody>
      </p:sp>
      <p:sp>
        <p:nvSpPr>
          <p:cNvPr id="13" name="Rounded Rectangle 12"/>
          <p:cNvSpPr/>
          <p:nvPr/>
        </p:nvSpPr>
        <p:spPr>
          <a:xfrm>
            <a:off x="3557016" y="2002536"/>
            <a:ext cx="2212848" cy="2962656"/>
          </a:xfrm>
          <a:prstGeom prst="roundRect">
            <a:avLst>
              <a:gd name="adj" fmla="val 12000"/>
            </a:avLst>
          </a:prstGeom>
          <a:solidFill>
            <a:srgbClr val="17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334256" y="2295144"/>
            <a:ext cx="640080" cy="640080"/>
          </a:xfrm>
          <a:prstGeom prst="ellipse">
            <a:avLst/>
          </a:prstGeom>
          <a:solidFill>
            <a:srgbClr val="5DD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0" y="2331720"/>
            <a:ext cx="530352" cy="530352"/>
          </a:xfrm>
          <a:prstGeom prst="rect">
            <a:avLst/>
          </a:prstGeom>
          <a:noFill/>
        </p:spPr>
        <p:txBody>
          <a:bodyPr wrap="square" lIns="0" rIns="0" tIns="0" bIns="0" anchor="ctr">
            <a:spAutoFit/>
          </a:bodyPr>
          <a:lstStyle/>
          <a:p>
            <a:pPr algn="ctr">
              <a:lnSpc>
                <a:spcPct val="110000"/>
              </a:lnSpc>
              <a:spcAft>
                <a:spcPts val="0"/>
              </a:spcAft>
            </a:pPr>
            <a:r>
              <a:rPr sz="2300" b="1">
                <a:solidFill>
                  <a:srgbClr val="0B1220"/>
                </a:solidFill>
                <a:latin typeface="Arial"/>
              </a:rPr>
              <a:t>2</a:t>
            </a:r>
          </a:p>
        </p:txBody>
      </p:sp>
      <p:sp>
        <p:nvSpPr>
          <p:cNvPr id="16" name="TextBox 15"/>
          <p:cNvSpPr txBox="1"/>
          <p:nvPr/>
        </p:nvSpPr>
        <p:spPr>
          <a:xfrm>
            <a:off x="3712464" y="3154680"/>
            <a:ext cx="1901952" cy="502920"/>
          </a:xfrm>
          <a:prstGeom prst="rect">
            <a:avLst/>
          </a:prstGeom>
          <a:noFill/>
        </p:spPr>
        <p:txBody>
          <a:bodyPr wrap="square" lIns="0" rIns="0" tIns="0" bIns="0" anchor="ctr">
            <a:spAutoFit/>
          </a:bodyPr>
          <a:lstStyle/>
          <a:p>
            <a:pPr algn="ctr">
              <a:lnSpc>
                <a:spcPct val="110000"/>
              </a:lnSpc>
              <a:spcAft>
                <a:spcPts val="0"/>
              </a:spcAft>
            </a:pPr>
            <a:r>
              <a:rPr sz="1750" b="1">
                <a:solidFill>
                  <a:srgbClr val="F6F4EF"/>
                </a:solidFill>
                <a:latin typeface="Arial"/>
              </a:rPr>
              <a:t>AI proposes code</a:t>
            </a:r>
          </a:p>
        </p:txBody>
      </p:sp>
      <p:sp>
        <p:nvSpPr>
          <p:cNvPr id="17" name="TextBox 16"/>
          <p:cNvSpPr txBox="1"/>
          <p:nvPr/>
        </p:nvSpPr>
        <p:spPr>
          <a:xfrm>
            <a:off x="3712464" y="3822191"/>
            <a:ext cx="1901952" cy="722376"/>
          </a:xfrm>
          <a:prstGeom prst="rect">
            <a:avLst/>
          </a:prstGeom>
          <a:noFill/>
        </p:spPr>
        <p:txBody>
          <a:bodyPr wrap="square" lIns="0" rIns="0" tIns="0" bIns="0" anchor="ctr">
            <a:spAutoFit/>
          </a:bodyPr>
          <a:lstStyle/>
          <a:p>
            <a:pPr algn="ctr">
              <a:lnSpc>
                <a:spcPct val="110000"/>
              </a:lnSpc>
              <a:spcAft>
                <a:spcPts val="0"/>
              </a:spcAft>
            </a:pPr>
            <a:r>
              <a:rPr sz="1350" b="0">
                <a:solidFill>
                  <a:srgbClr val="A8B5C8"/>
                </a:solidFill>
                <a:latin typeface="Arial"/>
              </a:rPr>
              <a:t>The agent submits</a:t>
            </a:r>
          </a:p>
          <a:p>
            <a:pPr algn="ctr">
              <a:lnSpc>
                <a:spcPct val="110000"/>
              </a:lnSpc>
              <a:spcAft>
                <a:spcPts val="0"/>
              </a:spcAft>
            </a:pPr>
            <a:r>
              <a:rPr sz="1350" b="0">
                <a:solidFill>
                  <a:srgbClr val="A8B5C8"/>
                </a:solidFill>
                <a:latin typeface="Arial"/>
              </a:rPr>
              <a:t>a candidate fix.</a:t>
            </a:r>
          </a:p>
        </p:txBody>
      </p:sp>
      <p:sp>
        <p:nvSpPr>
          <p:cNvPr id="18" name="Rounded Rectangle 17"/>
          <p:cNvSpPr/>
          <p:nvPr/>
        </p:nvSpPr>
        <p:spPr>
          <a:xfrm>
            <a:off x="6419088" y="2002536"/>
            <a:ext cx="2212848" cy="2962656"/>
          </a:xfrm>
          <a:prstGeom prst="roundRect">
            <a:avLst>
              <a:gd name="adj" fmla="val 12000"/>
            </a:avLst>
          </a:prstGeom>
          <a:solidFill>
            <a:srgbClr val="17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96327" y="2295144"/>
            <a:ext cx="640080" cy="640080"/>
          </a:xfrm>
          <a:prstGeom prst="ellipse">
            <a:avLst/>
          </a:prstGeom>
          <a:solidFill>
            <a:srgbClr val="FFC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51192" y="2331720"/>
            <a:ext cx="530352" cy="530352"/>
          </a:xfrm>
          <a:prstGeom prst="rect">
            <a:avLst/>
          </a:prstGeom>
          <a:noFill/>
        </p:spPr>
        <p:txBody>
          <a:bodyPr wrap="square" lIns="0" rIns="0" tIns="0" bIns="0" anchor="ctr">
            <a:spAutoFit/>
          </a:bodyPr>
          <a:lstStyle/>
          <a:p>
            <a:pPr algn="ctr">
              <a:lnSpc>
                <a:spcPct val="110000"/>
              </a:lnSpc>
              <a:spcAft>
                <a:spcPts val="0"/>
              </a:spcAft>
            </a:pPr>
            <a:r>
              <a:rPr sz="2300" b="1">
                <a:solidFill>
                  <a:srgbClr val="0B1220"/>
                </a:solidFill>
                <a:latin typeface="Arial"/>
              </a:rPr>
              <a:t>3</a:t>
            </a:r>
          </a:p>
        </p:txBody>
      </p:sp>
      <p:sp>
        <p:nvSpPr>
          <p:cNvPr id="21" name="TextBox 20"/>
          <p:cNvSpPr txBox="1"/>
          <p:nvPr/>
        </p:nvSpPr>
        <p:spPr>
          <a:xfrm>
            <a:off x="6574536" y="3154680"/>
            <a:ext cx="1901952" cy="502920"/>
          </a:xfrm>
          <a:prstGeom prst="rect">
            <a:avLst/>
          </a:prstGeom>
          <a:noFill/>
        </p:spPr>
        <p:txBody>
          <a:bodyPr wrap="square" lIns="0" rIns="0" tIns="0" bIns="0" anchor="ctr">
            <a:spAutoFit/>
          </a:bodyPr>
          <a:lstStyle/>
          <a:p>
            <a:pPr algn="ctr">
              <a:lnSpc>
                <a:spcPct val="110000"/>
              </a:lnSpc>
              <a:spcAft>
                <a:spcPts val="0"/>
              </a:spcAft>
            </a:pPr>
            <a:r>
              <a:rPr sz="1750" b="1">
                <a:solidFill>
                  <a:srgbClr val="F6F4EF"/>
                </a:solidFill>
                <a:latin typeface="Arial"/>
              </a:rPr>
              <a:t>Checker responds</a:t>
            </a:r>
          </a:p>
        </p:txBody>
      </p:sp>
      <p:sp>
        <p:nvSpPr>
          <p:cNvPr id="22" name="TextBox 21"/>
          <p:cNvSpPr txBox="1"/>
          <p:nvPr/>
        </p:nvSpPr>
        <p:spPr>
          <a:xfrm>
            <a:off x="6574536" y="3822191"/>
            <a:ext cx="1901952" cy="722376"/>
          </a:xfrm>
          <a:prstGeom prst="rect">
            <a:avLst/>
          </a:prstGeom>
          <a:noFill/>
        </p:spPr>
        <p:txBody>
          <a:bodyPr wrap="square" lIns="0" rIns="0" tIns="0" bIns="0" anchor="ctr">
            <a:spAutoFit/>
          </a:bodyPr>
          <a:lstStyle/>
          <a:p>
            <a:pPr algn="ctr">
              <a:lnSpc>
                <a:spcPct val="110000"/>
              </a:lnSpc>
              <a:spcAft>
                <a:spcPts val="0"/>
              </a:spcAft>
            </a:pPr>
            <a:r>
              <a:rPr sz="1350" b="0">
                <a:solidFill>
                  <a:srgbClr val="A8B5C8"/>
                </a:solidFill>
                <a:latin typeface="Arial"/>
              </a:rPr>
              <a:t>Tests and final rule</a:t>
            </a:r>
          </a:p>
          <a:p>
            <a:pPr algn="ctr">
              <a:lnSpc>
                <a:spcPct val="110000"/>
              </a:lnSpc>
              <a:spcAft>
                <a:spcPts val="0"/>
              </a:spcAft>
            </a:pPr>
            <a:r>
              <a:rPr sz="1350" b="0">
                <a:solidFill>
                  <a:srgbClr val="A8B5C8"/>
                </a:solidFill>
                <a:latin typeface="Arial"/>
              </a:rPr>
              <a:t>produce feedback.</a:t>
            </a:r>
          </a:p>
        </p:txBody>
      </p:sp>
      <p:sp>
        <p:nvSpPr>
          <p:cNvPr id="23" name="Rounded Rectangle 22"/>
          <p:cNvSpPr/>
          <p:nvPr/>
        </p:nvSpPr>
        <p:spPr>
          <a:xfrm>
            <a:off x="9281160" y="2002536"/>
            <a:ext cx="2212848" cy="2962656"/>
          </a:xfrm>
          <a:prstGeom prst="roundRect">
            <a:avLst>
              <a:gd name="adj" fmla="val 12000"/>
            </a:avLst>
          </a:prstGeom>
          <a:solidFill>
            <a:srgbClr val="17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058400" y="2295144"/>
            <a:ext cx="640080" cy="640080"/>
          </a:xfrm>
          <a:prstGeom prst="ellipse">
            <a:avLst/>
          </a:prstGeom>
          <a:solidFill>
            <a:srgbClr val="FF77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13264" y="2331720"/>
            <a:ext cx="530352" cy="530352"/>
          </a:xfrm>
          <a:prstGeom prst="rect">
            <a:avLst/>
          </a:prstGeom>
          <a:noFill/>
        </p:spPr>
        <p:txBody>
          <a:bodyPr wrap="square" lIns="0" rIns="0" tIns="0" bIns="0" anchor="ctr">
            <a:spAutoFit/>
          </a:bodyPr>
          <a:lstStyle/>
          <a:p>
            <a:pPr algn="ctr">
              <a:lnSpc>
                <a:spcPct val="110000"/>
              </a:lnSpc>
              <a:spcAft>
                <a:spcPts val="0"/>
              </a:spcAft>
            </a:pPr>
            <a:r>
              <a:rPr sz="2300" b="1">
                <a:solidFill>
                  <a:srgbClr val="0B1220"/>
                </a:solidFill>
                <a:latin typeface="Arial"/>
              </a:rPr>
              <a:t>4</a:t>
            </a:r>
          </a:p>
        </p:txBody>
      </p:sp>
      <p:sp>
        <p:nvSpPr>
          <p:cNvPr id="26" name="TextBox 25"/>
          <p:cNvSpPr txBox="1"/>
          <p:nvPr/>
        </p:nvSpPr>
        <p:spPr>
          <a:xfrm>
            <a:off x="9436608" y="3154680"/>
            <a:ext cx="1901952" cy="502920"/>
          </a:xfrm>
          <a:prstGeom prst="rect">
            <a:avLst/>
          </a:prstGeom>
          <a:noFill/>
        </p:spPr>
        <p:txBody>
          <a:bodyPr wrap="square" lIns="0" rIns="0" tIns="0" bIns="0" anchor="ctr">
            <a:spAutoFit/>
          </a:bodyPr>
          <a:lstStyle/>
          <a:p>
            <a:pPr algn="ctr">
              <a:lnSpc>
                <a:spcPct val="110000"/>
              </a:lnSpc>
              <a:spcAft>
                <a:spcPts val="0"/>
              </a:spcAft>
            </a:pPr>
            <a:r>
              <a:rPr sz="1750" b="1">
                <a:solidFill>
                  <a:srgbClr val="F6F4EF"/>
                </a:solidFill>
                <a:latin typeface="Arial"/>
              </a:rPr>
              <a:t>AI acts again</a:t>
            </a:r>
          </a:p>
        </p:txBody>
      </p:sp>
      <p:sp>
        <p:nvSpPr>
          <p:cNvPr id="27" name="TextBox 26"/>
          <p:cNvSpPr txBox="1"/>
          <p:nvPr/>
        </p:nvSpPr>
        <p:spPr>
          <a:xfrm>
            <a:off x="9436608" y="3822191"/>
            <a:ext cx="1901952" cy="722376"/>
          </a:xfrm>
          <a:prstGeom prst="rect">
            <a:avLst/>
          </a:prstGeom>
          <a:noFill/>
        </p:spPr>
        <p:txBody>
          <a:bodyPr wrap="square" lIns="0" rIns="0" tIns="0" bIns="0" anchor="ctr">
            <a:spAutoFit/>
          </a:bodyPr>
          <a:lstStyle/>
          <a:p>
            <a:pPr algn="ctr">
              <a:lnSpc>
                <a:spcPct val="110000"/>
              </a:lnSpc>
              <a:spcAft>
                <a:spcPts val="0"/>
              </a:spcAft>
            </a:pPr>
            <a:r>
              <a:rPr sz="1350" b="0">
                <a:solidFill>
                  <a:srgbClr val="A8B5C8"/>
                </a:solidFill>
                <a:latin typeface="Arial"/>
              </a:rPr>
              <a:t>It may revise, stop,</a:t>
            </a:r>
          </a:p>
          <a:p>
            <a:pPr algn="ctr">
              <a:lnSpc>
                <a:spcPct val="110000"/>
              </a:lnSpc>
              <a:spcAft>
                <a:spcPts val="0"/>
              </a:spcAft>
            </a:pPr>
            <a:r>
              <a:rPr sz="1350" b="0">
                <a:solidFill>
                  <a:srgbClr val="A8B5C8"/>
                </a:solidFill>
                <a:latin typeface="Arial"/>
              </a:rPr>
              <a:t>or run out of time.</a:t>
            </a:r>
          </a:p>
        </p:txBody>
      </p:sp>
      <p:sp>
        <p:nvSpPr>
          <p:cNvPr id="28" name="TextBox 27"/>
          <p:cNvSpPr txBox="1"/>
          <p:nvPr/>
        </p:nvSpPr>
        <p:spPr>
          <a:xfrm>
            <a:off x="3090672" y="2962656"/>
            <a:ext cx="329184" cy="594360"/>
          </a:xfrm>
          <a:prstGeom prst="rect">
            <a:avLst/>
          </a:prstGeom>
          <a:noFill/>
        </p:spPr>
        <p:txBody>
          <a:bodyPr wrap="square" lIns="0" rIns="0" tIns="0" bIns="0" anchor="ctr">
            <a:spAutoFit/>
          </a:bodyPr>
          <a:lstStyle/>
          <a:p>
            <a:pPr algn="ctr">
              <a:lnSpc>
                <a:spcPct val="110000"/>
              </a:lnSpc>
              <a:spcAft>
                <a:spcPts val="0"/>
              </a:spcAft>
            </a:pPr>
            <a:r>
              <a:rPr sz="2700" b="0">
                <a:solidFill>
                  <a:srgbClr val="77A9FF"/>
                </a:solidFill>
                <a:latin typeface="Arial"/>
              </a:rPr>
              <a:t>→</a:t>
            </a:r>
          </a:p>
        </p:txBody>
      </p:sp>
      <p:sp>
        <p:nvSpPr>
          <p:cNvPr id="29" name="TextBox 28"/>
          <p:cNvSpPr txBox="1"/>
          <p:nvPr/>
        </p:nvSpPr>
        <p:spPr>
          <a:xfrm>
            <a:off x="5952744" y="2962656"/>
            <a:ext cx="329184" cy="594360"/>
          </a:xfrm>
          <a:prstGeom prst="rect">
            <a:avLst/>
          </a:prstGeom>
          <a:noFill/>
        </p:spPr>
        <p:txBody>
          <a:bodyPr wrap="square" lIns="0" rIns="0" tIns="0" bIns="0" anchor="ctr">
            <a:spAutoFit/>
          </a:bodyPr>
          <a:lstStyle/>
          <a:p>
            <a:pPr algn="ctr">
              <a:lnSpc>
                <a:spcPct val="110000"/>
              </a:lnSpc>
              <a:spcAft>
                <a:spcPts val="0"/>
              </a:spcAft>
            </a:pPr>
            <a:r>
              <a:rPr sz="2700" b="0">
                <a:solidFill>
                  <a:srgbClr val="77A9FF"/>
                </a:solidFill>
                <a:latin typeface="Arial"/>
              </a:rPr>
              <a:t>→</a:t>
            </a:r>
          </a:p>
        </p:txBody>
      </p:sp>
      <p:sp>
        <p:nvSpPr>
          <p:cNvPr id="30" name="TextBox 29"/>
          <p:cNvSpPr txBox="1"/>
          <p:nvPr/>
        </p:nvSpPr>
        <p:spPr>
          <a:xfrm>
            <a:off x="8814816" y="2962656"/>
            <a:ext cx="329184" cy="594360"/>
          </a:xfrm>
          <a:prstGeom prst="rect">
            <a:avLst/>
          </a:prstGeom>
          <a:noFill/>
        </p:spPr>
        <p:txBody>
          <a:bodyPr wrap="square" lIns="0" rIns="0" tIns="0" bIns="0" anchor="ctr">
            <a:spAutoFit/>
          </a:bodyPr>
          <a:lstStyle/>
          <a:p>
            <a:pPr algn="ctr">
              <a:lnSpc>
                <a:spcPct val="110000"/>
              </a:lnSpc>
              <a:spcAft>
                <a:spcPts val="0"/>
              </a:spcAft>
            </a:pPr>
            <a:r>
              <a:rPr sz="2700" b="0">
                <a:solidFill>
                  <a:srgbClr val="77A9FF"/>
                </a:solidFill>
                <a:latin typeface="Arial"/>
              </a:rPr>
              <a:t>→</a:t>
            </a:r>
          </a:p>
        </p:txBody>
      </p:sp>
      <p:sp>
        <p:nvSpPr>
          <p:cNvPr id="31" name="TextBox 30"/>
          <p:cNvSpPr txBox="1"/>
          <p:nvPr/>
        </p:nvSpPr>
        <p:spPr>
          <a:xfrm>
            <a:off x="969264" y="5413248"/>
            <a:ext cx="10250424" cy="621792"/>
          </a:xfrm>
          <a:prstGeom prst="rect">
            <a:avLst/>
          </a:prstGeom>
          <a:noFill/>
        </p:spPr>
        <p:txBody>
          <a:bodyPr wrap="square" lIns="0" rIns="0" tIns="0" bIns="0" anchor="ctr">
            <a:spAutoFit/>
          </a:bodyPr>
          <a:lstStyle/>
          <a:p>
            <a:pPr algn="ctr">
              <a:lnSpc>
                <a:spcPct val="110000"/>
              </a:lnSpc>
              <a:spcAft>
                <a:spcPts val="0"/>
              </a:spcAft>
            </a:pPr>
            <a:r>
              <a:rPr sz="2200" b="1">
                <a:solidFill>
                  <a:srgbClr val="F6F4EF"/>
                </a:solidFill>
                <a:latin typeface="Arial"/>
              </a:rPr>
              <a:t>Our research asks: what can we infer from the AI's reaction if the feedback is wrong?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9184"/>
            <a:ext cx="9966960" cy="274320"/>
          </a:xfrm>
          <a:prstGeom prst="rect">
            <a:avLst/>
          </a:prstGeom>
          <a:noFill/>
        </p:spPr>
        <p:txBody>
          <a:bodyPr wrap="square" lIns="0" rIns="0" tIns="0" bIns="0" anchor="ctr">
            <a:spAutoFit/>
          </a:bodyPr>
          <a:lstStyle/>
          <a:p>
            <a:pPr algn="l">
              <a:lnSpc>
                <a:spcPct val="110000"/>
              </a:lnSpc>
              <a:spcAft>
                <a:spcPts val="0"/>
              </a:spcAft>
            </a:pPr>
            <a:r>
              <a:rPr sz="1100" b="1">
                <a:solidFill>
                  <a:srgbClr val="77A9FF"/>
                </a:solidFill>
                <a:latin typeface="Arial"/>
              </a:rPr>
              <a:t>WHAT WE EXAMINED</a:t>
            </a:r>
          </a:p>
        </p:txBody>
      </p:sp>
      <p:sp>
        <p:nvSpPr>
          <p:cNvPr id="4" name="TextBox 3"/>
          <p:cNvSpPr txBox="1"/>
          <p:nvPr/>
        </p:nvSpPr>
        <p:spPr>
          <a:xfrm>
            <a:off x="640080" y="740664"/>
            <a:ext cx="10927080" cy="841248"/>
          </a:xfrm>
          <a:prstGeom prst="rect">
            <a:avLst/>
          </a:prstGeom>
          <a:noFill/>
        </p:spPr>
        <p:txBody>
          <a:bodyPr wrap="square" lIns="0" rIns="0" tIns="0" bIns="0" anchor="t">
            <a:spAutoFit/>
          </a:bodyPr>
          <a:lstStyle/>
          <a:p>
            <a:pPr algn="l">
              <a:lnSpc>
                <a:spcPct val="110000"/>
              </a:lnSpc>
              <a:spcAft>
                <a:spcPts val="0"/>
              </a:spcAft>
            </a:pPr>
            <a:r>
              <a:rPr sz="3300" b="1">
                <a:solidFill>
                  <a:srgbClr val="F6F4EF"/>
                </a:solidFill>
                <a:latin typeface="Arial"/>
              </a:rPr>
              <a:t>One recorded study, clearly bounded</a:t>
            </a:r>
          </a:p>
        </p:txBody>
      </p:sp>
      <p:cxnSp>
        <p:nvCxnSpPr>
          <p:cNvPr id="5" name="Connector 4"/>
          <p:cNvCxnSpPr/>
          <p:nvPr/>
        </p:nvCxnSpPr>
        <p:spPr>
          <a:xfrm>
            <a:off x="640080" y="6473952"/>
            <a:ext cx="10908792" cy="0"/>
          </a:xfrm>
          <a:prstGeom prst="line">
            <a:avLst/>
          </a:prstGeom>
          <a:ln w="19050">
            <a:solidFill>
              <a:srgbClr val="34445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528816"/>
            <a:ext cx="10424160" cy="173736"/>
          </a:xfrm>
          <a:prstGeom prst="rect">
            <a:avLst/>
          </a:prstGeom>
          <a:noFill/>
        </p:spPr>
        <p:txBody>
          <a:bodyPr wrap="square" lIns="0" rIns="0" tIns="0" bIns="0" anchor="ctr">
            <a:spAutoFit/>
          </a:bodyPr>
          <a:lstStyle/>
          <a:p>
            <a:pPr algn="l">
              <a:lnSpc>
                <a:spcPct val="110000"/>
              </a:lnSpc>
              <a:spcAft>
                <a:spcPts val="0"/>
              </a:spcAft>
            </a:pPr>
            <a:r>
              <a:rPr sz="850" b="0">
                <a:solidFill>
                  <a:srgbClr val="A8B5C8"/>
                </a:solidFill>
                <a:latin typeface="Arial"/>
              </a:rPr>
              <a:t>Historical exploratory cohort: README.md, Current result; paper/final.md, Methods.</a:t>
            </a:r>
          </a:p>
        </p:txBody>
      </p:sp>
      <p:sp>
        <p:nvSpPr>
          <p:cNvPr id="7" name="TextBox 6"/>
          <p:cNvSpPr txBox="1"/>
          <p:nvPr/>
        </p:nvSpPr>
        <p:spPr>
          <a:xfrm>
            <a:off x="11064240" y="6501384"/>
            <a:ext cx="457200" cy="219456"/>
          </a:xfrm>
          <a:prstGeom prst="rect">
            <a:avLst/>
          </a:prstGeom>
          <a:noFill/>
        </p:spPr>
        <p:txBody>
          <a:bodyPr wrap="square" lIns="0" rIns="0" tIns="0" bIns="0" anchor="ctr">
            <a:spAutoFit/>
          </a:bodyPr>
          <a:lstStyle/>
          <a:p>
            <a:pPr algn="r">
              <a:lnSpc>
                <a:spcPct val="110000"/>
              </a:lnSpc>
              <a:spcAft>
                <a:spcPts val="0"/>
              </a:spcAft>
            </a:pPr>
            <a:r>
              <a:rPr sz="1000" b="0">
                <a:solidFill>
                  <a:srgbClr val="A8B5C8"/>
                </a:solidFill>
                <a:latin typeface="Arial"/>
              </a:rPr>
              <a:t>04</a:t>
            </a:r>
          </a:p>
        </p:txBody>
      </p:sp>
      <p:sp>
        <p:nvSpPr>
          <p:cNvPr id="8" name="Rounded Rectangle 7"/>
          <p:cNvSpPr/>
          <p:nvPr/>
        </p:nvSpPr>
        <p:spPr>
          <a:xfrm>
            <a:off x="704088" y="1837943"/>
            <a:ext cx="2907792" cy="2340864"/>
          </a:xfrm>
          <a:prstGeom prst="roundRect">
            <a:avLst>
              <a:gd name="adj" fmla="val 12000"/>
            </a:avLst>
          </a:prstGeom>
          <a:solidFill>
            <a:srgbClr val="17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3544" y="2075688"/>
            <a:ext cx="2468880" cy="896112"/>
          </a:xfrm>
          <a:prstGeom prst="rect">
            <a:avLst/>
          </a:prstGeom>
          <a:noFill/>
        </p:spPr>
        <p:txBody>
          <a:bodyPr wrap="square" lIns="0" rIns="0" tIns="0" bIns="0" anchor="ctr">
            <a:spAutoFit/>
          </a:bodyPr>
          <a:lstStyle/>
          <a:p>
            <a:pPr algn="ctr">
              <a:lnSpc>
                <a:spcPct val="110000"/>
              </a:lnSpc>
              <a:spcAft>
                <a:spcPts val="0"/>
              </a:spcAft>
            </a:pPr>
            <a:r>
              <a:rPr sz="5500" b="1">
                <a:solidFill>
                  <a:srgbClr val="77A9FF"/>
                </a:solidFill>
                <a:latin typeface="Arial"/>
              </a:rPr>
              <a:t>40</a:t>
            </a:r>
          </a:p>
        </p:txBody>
      </p:sp>
      <p:sp>
        <p:nvSpPr>
          <p:cNvPr id="10" name="TextBox 9"/>
          <p:cNvSpPr txBox="1"/>
          <p:nvPr/>
        </p:nvSpPr>
        <p:spPr>
          <a:xfrm>
            <a:off x="941832" y="3136392"/>
            <a:ext cx="2432304" cy="713232"/>
          </a:xfrm>
          <a:prstGeom prst="rect">
            <a:avLst/>
          </a:prstGeom>
          <a:noFill/>
        </p:spPr>
        <p:txBody>
          <a:bodyPr wrap="square" lIns="0" rIns="0" tIns="0" bIns="0" anchor="ctr">
            <a:spAutoFit/>
          </a:bodyPr>
          <a:lstStyle/>
          <a:p>
            <a:pPr algn="ctr">
              <a:lnSpc>
                <a:spcPct val="110000"/>
              </a:lnSpc>
              <a:spcAft>
                <a:spcPts val="0"/>
              </a:spcAft>
            </a:pPr>
            <a:r>
              <a:rPr sz="1700" b="1">
                <a:solidFill>
                  <a:srgbClr val="F6F4EF"/>
                </a:solidFill>
                <a:latin typeface="Arial"/>
              </a:rPr>
              <a:t>recorded repair</a:t>
            </a:r>
          </a:p>
          <a:p>
            <a:pPr algn="ctr">
              <a:lnSpc>
                <a:spcPct val="110000"/>
              </a:lnSpc>
              <a:spcAft>
                <a:spcPts val="0"/>
              </a:spcAft>
            </a:pPr>
            <a:r>
              <a:rPr sz="1700" b="1">
                <a:solidFill>
                  <a:srgbClr val="F6F4EF"/>
                </a:solidFill>
                <a:latin typeface="Arial"/>
              </a:rPr>
              <a:t>episodes</a:t>
            </a:r>
          </a:p>
        </p:txBody>
      </p:sp>
      <p:sp>
        <p:nvSpPr>
          <p:cNvPr id="11" name="Rounded Rectangle 10"/>
          <p:cNvSpPr/>
          <p:nvPr/>
        </p:nvSpPr>
        <p:spPr>
          <a:xfrm>
            <a:off x="4151376" y="1837943"/>
            <a:ext cx="2907792" cy="2340864"/>
          </a:xfrm>
          <a:prstGeom prst="roundRect">
            <a:avLst>
              <a:gd name="adj" fmla="val 12000"/>
            </a:avLst>
          </a:prstGeom>
          <a:solidFill>
            <a:srgbClr val="17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70832" y="2075688"/>
            <a:ext cx="2468880" cy="896112"/>
          </a:xfrm>
          <a:prstGeom prst="rect">
            <a:avLst/>
          </a:prstGeom>
          <a:noFill/>
        </p:spPr>
        <p:txBody>
          <a:bodyPr wrap="square" lIns="0" rIns="0" tIns="0" bIns="0" anchor="ctr">
            <a:spAutoFit/>
          </a:bodyPr>
          <a:lstStyle/>
          <a:p>
            <a:pPr algn="ctr">
              <a:lnSpc>
                <a:spcPct val="110000"/>
              </a:lnSpc>
              <a:spcAft>
                <a:spcPts val="0"/>
              </a:spcAft>
            </a:pPr>
            <a:r>
              <a:rPr sz="5500" b="1">
                <a:solidFill>
                  <a:srgbClr val="5DDFC4"/>
                </a:solidFill>
                <a:latin typeface="Arial"/>
              </a:rPr>
              <a:t>5</a:t>
            </a:r>
          </a:p>
        </p:txBody>
      </p:sp>
      <p:sp>
        <p:nvSpPr>
          <p:cNvPr id="13" name="TextBox 12"/>
          <p:cNvSpPr txBox="1"/>
          <p:nvPr/>
        </p:nvSpPr>
        <p:spPr>
          <a:xfrm>
            <a:off x="4389120" y="3136392"/>
            <a:ext cx="2432304" cy="713232"/>
          </a:xfrm>
          <a:prstGeom prst="rect">
            <a:avLst/>
          </a:prstGeom>
          <a:noFill/>
        </p:spPr>
        <p:txBody>
          <a:bodyPr wrap="square" lIns="0" rIns="0" tIns="0" bIns="0" anchor="ctr">
            <a:spAutoFit/>
          </a:bodyPr>
          <a:lstStyle/>
          <a:p>
            <a:pPr algn="ctr">
              <a:lnSpc>
                <a:spcPct val="110000"/>
              </a:lnSpc>
              <a:spcAft>
                <a:spcPts val="0"/>
              </a:spcAft>
            </a:pPr>
            <a:r>
              <a:rPr sz="1700" b="1">
                <a:solidFill>
                  <a:srgbClr val="F6F4EF"/>
                </a:solidFill>
                <a:latin typeface="Arial"/>
              </a:rPr>
              <a:t>selected security</a:t>
            </a:r>
          </a:p>
          <a:p>
            <a:pPr algn="ctr">
              <a:lnSpc>
                <a:spcPct val="110000"/>
              </a:lnSpc>
              <a:spcAft>
                <a:spcPts val="0"/>
              </a:spcAft>
            </a:pPr>
            <a:r>
              <a:rPr sz="1700" b="1">
                <a:solidFill>
                  <a:srgbClr val="F6F4EF"/>
                </a:solidFill>
                <a:latin typeface="Arial"/>
              </a:rPr>
              <a:t>task families</a:t>
            </a:r>
          </a:p>
        </p:txBody>
      </p:sp>
      <p:sp>
        <p:nvSpPr>
          <p:cNvPr id="14" name="Rounded Rectangle 13"/>
          <p:cNvSpPr/>
          <p:nvPr/>
        </p:nvSpPr>
        <p:spPr>
          <a:xfrm>
            <a:off x="7598664" y="1837943"/>
            <a:ext cx="2907792" cy="2340864"/>
          </a:xfrm>
          <a:prstGeom prst="roundRect">
            <a:avLst>
              <a:gd name="adj" fmla="val 12000"/>
            </a:avLst>
          </a:prstGeom>
          <a:solidFill>
            <a:srgbClr val="17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18120" y="2075688"/>
            <a:ext cx="2468880" cy="896112"/>
          </a:xfrm>
          <a:prstGeom prst="rect">
            <a:avLst/>
          </a:prstGeom>
          <a:noFill/>
        </p:spPr>
        <p:txBody>
          <a:bodyPr wrap="square" lIns="0" rIns="0" tIns="0" bIns="0" anchor="ctr">
            <a:spAutoFit/>
          </a:bodyPr>
          <a:lstStyle/>
          <a:p>
            <a:pPr algn="ctr">
              <a:lnSpc>
                <a:spcPct val="110000"/>
              </a:lnSpc>
              <a:spcAft>
                <a:spcPts val="0"/>
              </a:spcAft>
            </a:pPr>
            <a:r>
              <a:rPr sz="5500" b="1">
                <a:solidFill>
                  <a:srgbClr val="FFC96E"/>
                </a:solidFill>
                <a:latin typeface="Arial"/>
              </a:rPr>
              <a:t>1</a:t>
            </a:r>
          </a:p>
        </p:txBody>
      </p:sp>
      <p:sp>
        <p:nvSpPr>
          <p:cNvPr id="16" name="TextBox 15"/>
          <p:cNvSpPr txBox="1"/>
          <p:nvPr/>
        </p:nvSpPr>
        <p:spPr>
          <a:xfrm>
            <a:off x="7836408" y="3136392"/>
            <a:ext cx="2432304" cy="713232"/>
          </a:xfrm>
          <a:prstGeom prst="rect">
            <a:avLst/>
          </a:prstGeom>
          <a:noFill/>
        </p:spPr>
        <p:txBody>
          <a:bodyPr wrap="square" lIns="0" rIns="0" tIns="0" bIns="0" anchor="ctr">
            <a:spAutoFit/>
          </a:bodyPr>
          <a:lstStyle/>
          <a:p>
            <a:pPr algn="ctr">
              <a:lnSpc>
                <a:spcPct val="110000"/>
              </a:lnSpc>
              <a:spcAft>
                <a:spcPts val="0"/>
              </a:spcAft>
            </a:pPr>
            <a:r>
              <a:rPr sz="1700" b="1">
                <a:solidFill>
                  <a:srgbClr val="F6F4EF"/>
                </a:solidFill>
                <a:latin typeface="Arial"/>
              </a:rPr>
              <a:t>local coding</a:t>
            </a:r>
          </a:p>
          <a:p>
            <a:pPr algn="ctr">
              <a:lnSpc>
                <a:spcPct val="110000"/>
              </a:lnSpc>
              <a:spcAft>
                <a:spcPts val="0"/>
              </a:spcAft>
            </a:pPr>
            <a:r>
              <a:rPr sz="1700" b="1">
                <a:solidFill>
                  <a:srgbClr val="F6F4EF"/>
                </a:solidFill>
                <a:latin typeface="Arial"/>
              </a:rPr>
              <a:t>model</a:t>
            </a:r>
          </a:p>
        </p:txBody>
      </p:sp>
      <p:sp>
        <p:nvSpPr>
          <p:cNvPr id="17" name="TextBox 16"/>
          <p:cNvSpPr txBox="1"/>
          <p:nvPr/>
        </p:nvSpPr>
        <p:spPr>
          <a:xfrm>
            <a:off x="713232" y="4645152"/>
            <a:ext cx="10789920" cy="347472"/>
          </a:xfrm>
          <a:prstGeom prst="rect">
            <a:avLst/>
          </a:prstGeom>
          <a:noFill/>
        </p:spPr>
        <p:txBody>
          <a:bodyPr wrap="square" lIns="0" rIns="0" tIns="0" bIns="0" anchor="ctr">
            <a:spAutoFit/>
          </a:bodyPr>
          <a:lstStyle/>
          <a:p>
            <a:pPr algn="l">
              <a:lnSpc>
                <a:spcPct val="110000"/>
              </a:lnSpc>
              <a:spcAft>
                <a:spcPts val="0"/>
              </a:spcAft>
            </a:pPr>
            <a:r>
              <a:rPr sz="1900" b="0">
                <a:solidFill>
                  <a:srgbClr val="A8B5C8"/>
                </a:solidFill>
                <a:latin typeface="Arial"/>
              </a:rPr>
              <a:t>The five families covered key derivation, nonce handling, weak randomness,</a:t>
            </a:r>
          </a:p>
        </p:txBody>
      </p:sp>
      <p:sp>
        <p:nvSpPr>
          <p:cNvPr id="18" name="TextBox 17"/>
          <p:cNvSpPr txBox="1"/>
          <p:nvPr/>
        </p:nvSpPr>
        <p:spPr>
          <a:xfrm>
            <a:off x="713232" y="5010912"/>
            <a:ext cx="10789920" cy="347472"/>
          </a:xfrm>
          <a:prstGeom prst="rect">
            <a:avLst/>
          </a:prstGeom>
          <a:noFill/>
        </p:spPr>
        <p:txBody>
          <a:bodyPr wrap="square" lIns="0" rIns="0" tIns="0" bIns="0" anchor="ctr">
            <a:spAutoFit/>
          </a:bodyPr>
          <a:lstStyle/>
          <a:p>
            <a:pPr algn="l">
              <a:lnSpc>
                <a:spcPct val="110000"/>
              </a:lnSpc>
              <a:spcAft>
                <a:spcPts val="0"/>
              </a:spcAft>
            </a:pPr>
            <a:r>
              <a:rPr sz="1900" b="0">
                <a:solidFill>
                  <a:srgbClr val="A8B5C8"/>
                </a:solidFill>
                <a:latin typeface="Arial"/>
              </a:rPr>
              <a:t>SQL injection, and cross-site scripting.</a:t>
            </a:r>
          </a:p>
        </p:txBody>
      </p:sp>
      <p:sp>
        <p:nvSpPr>
          <p:cNvPr id="19" name="Rounded Rectangle 18"/>
          <p:cNvSpPr/>
          <p:nvPr/>
        </p:nvSpPr>
        <p:spPr>
          <a:xfrm>
            <a:off x="713232" y="5650992"/>
            <a:ext cx="3767328" cy="411480"/>
          </a:xfrm>
          <a:prstGeom prst="roundRect">
            <a:avLst>
              <a:gd name="adj" fmla="val 12000"/>
            </a:avLst>
          </a:prstGeom>
          <a:solidFill>
            <a:srgbClr val="1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5669279"/>
            <a:ext cx="3584448" cy="374904"/>
          </a:xfrm>
          <a:prstGeom prst="rect">
            <a:avLst/>
          </a:prstGeom>
          <a:noFill/>
        </p:spPr>
        <p:txBody>
          <a:bodyPr wrap="square" lIns="0" rIns="0" tIns="0" bIns="0" anchor="ctr">
            <a:spAutoFit/>
          </a:bodyPr>
          <a:lstStyle/>
          <a:p>
            <a:pPr algn="ctr">
              <a:lnSpc>
                <a:spcPct val="110000"/>
              </a:lnSpc>
              <a:spcAft>
                <a:spcPts val="0"/>
              </a:spcAft>
            </a:pPr>
            <a:r>
              <a:rPr sz="1200" b="1">
                <a:solidFill>
                  <a:srgbClr val="77A9FF"/>
                </a:solidFill>
                <a:latin typeface="Arial"/>
              </a:rPr>
              <a:t>HISTORICAL EXPLORATORY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9184"/>
            <a:ext cx="9966960" cy="274320"/>
          </a:xfrm>
          <a:prstGeom prst="rect">
            <a:avLst/>
          </a:prstGeom>
          <a:noFill/>
        </p:spPr>
        <p:txBody>
          <a:bodyPr wrap="square" lIns="0" rIns="0" tIns="0" bIns="0" anchor="ctr">
            <a:spAutoFit/>
          </a:bodyPr>
          <a:lstStyle/>
          <a:p>
            <a:pPr algn="l">
              <a:lnSpc>
                <a:spcPct val="110000"/>
              </a:lnSpc>
              <a:spcAft>
                <a:spcPts val="0"/>
              </a:spcAft>
            </a:pPr>
            <a:r>
              <a:rPr sz="1100" b="1">
                <a:solidFill>
                  <a:srgbClr val="77A9FF"/>
                </a:solidFill>
                <a:latin typeface="Arial"/>
              </a:rPr>
              <a:t>THE FINDING</a:t>
            </a:r>
          </a:p>
        </p:txBody>
      </p:sp>
      <p:sp>
        <p:nvSpPr>
          <p:cNvPr id="4" name="TextBox 3"/>
          <p:cNvSpPr txBox="1"/>
          <p:nvPr/>
        </p:nvSpPr>
        <p:spPr>
          <a:xfrm>
            <a:off x="640080" y="740664"/>
            <a:ext cx="10927080" cy="841248"/>
          </a:xfrm>
          <a:prstGeom prst="rect">
            <a:avLst/>
          </a:prstGeom>
          <a:noFill/>
        </p:spPr>
        <p:txBody>
          <a:bodyPr wrap="square" lIns="0" rIns="0" tIns="0" bIns="0" anchor="t">
            <a:spAutoFit/>
          </a:bodyPr>
          <a:lstStyle/>
          <a:p>
            <a:pPr algn="l">
              <a:lnSpc>
                <a:spcPct val="110000"/>
              </a:lnSpc>
              <a:spcAft>
                <a:spcPts val="0"/>
              </a:spcAft>
            </a:pPr>
            <a:r>
              <a:rPr sz="3000" b="1">
                <a:solidFill>
                  <a:srgbClr val="F6F4EF"/>
                </a:solidFill>
                <a:latin typeface="Arial"/>
              </a:rPr>
              <a:t>Tests passed. The final answer was still FAIL.</a:t>
            </a:r>
          </a:p>
        </p:txBody>
      </p:sp>
      <p:cxnSp>
        <p:nvCxnSpPr>
          <p:cNvPr id="5" name="Connector 4"/>
          <p:cNvCxnSpPr/>
          <p:nvPr/>
        </p:nvCxnSpPr>
        <p:spPr>
          <a:xfrm>
            <a:off x="640080" y="6473952"/>
            <a:ext cx="10908792" cy="0"/>
          </a:xfrm>
          <a:prstGeom prst="line">
            <a:avLst/>
          </a:prstGeom>
          <a:ln w="19050">
            <a:solidFill>
              <a:srgbClr val="34445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528816"/>
            <a:ext cx="10424160" cy="173736"/>
          </a:xfrm>
          <a:prstGeom prst="rect">
            <a:avLst/>
          </a:prstGeom>
          <a:noFill/>
        </p:spPr>
        <p:txBody>
          <a:bodyPr wrap="square" lIns="0" rIns="0" tIns="0" bIns="0" anchor="ctr">
            <a:spAutoFit/>
          </a:bodyPr>
          <a:lstStyle/>
          <a:p>
            <a:pPr algn="l">
              <a:lnSpc>
                <a:spcPct val="110000"/>
              </a:lnSpc>
              <a:spcAft>
                <a:spcPts val="0"/>
              </a:spcAft>
            </a:pPr>
            <a:r>
              <a:rPr sz="850" b="0">
                <a:solidFill>
                  <a:srgbClr val="A8B5C8"/>
                </a:solidFill>
                <a:latin typeface="Arial"/>
              </a:rPr>
              <a:t>Counts: docs/MEASUREMENT_FOLLOWUP_20261030.md, §1; paper/final.md, Results.</a:t>
            </a:r>
          </a:p>
        </p:txBody>
      </p:sp>
      <p:sp>
        <p:nvSpPr>
          <p:cNvPr id="7" name="TextBox 6"/>
          <p:cNvSpPr txBox="1"/>
          <p:nvPr/>
        </p:nvSpPr>
        <p:spPr>
          <a:xfrm>
            <a:off x="11064240" y="6501384"/>
            <a:ext cx="457200" cy="219456"/>
          </a:xfrm>
          <a:prstGeom prst="rect">
            <a:avLst/>
          </a:prstGeom>
          <a:noFill/>
        </p:spPr>
        <p:txBody>
          <a:bodyPr wrap="square" lIns="0" rIns="0" tIns="0" bIns="0" anchor="ctr">
            <a:spAutoFit/>
          </a:bodyPr>
          <a:lstStyle/>
          <a:p>
            <a:pPr algn="r">
              <a:lnSpc>
                <a:spcPct val="110000"/>
              </a:lnSpc>
              <a:spcAft>
                <a:spcPts val="0"/>
              </a:spcAft>
            </a:pPr>
            <a:r>
              <a:rPr sz="1000" b="0">
                <a:solidFill>
                  <a:srgbClr val="A8B5C8"/>
                </a:solidFill>
                <a:latin typeface="Arial"/>
              </a:rPr>
              <a:t>05</a:t>
            </a:r>
          </a:p>
        </p:txBody>
      </p:sp>
      <p:sp>
        <p:nvSpPr>
          <p:cNvPr id="8" name="Rounded Rectangle 7"/>
          <p:cNvSpPr/>
          <p:nvPr/>
        </p:nvSpPr>
        <p:spPr>
          <a:xfrm>
            <a:off x="713232" y="1810512"/>
            <a:ext cx="6583680" cy="3410712"/>
          </a:xfrm>
          <a:prstGeom prst="roundRect">
            <a:avLst>
              <a:gd name="adj" fmla="val 12000"/>
            </a:avLst>
          </a:prstGeom>
          <a:solidFill>
            <a:srgbClr val="17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2144" y="2450592"/>
            <a:ext cx="393192" cy="393192"/>
          </a:xfrm>
          <a:prstGeom prst="ellipse">
            <a:avLst/>
          </a:prstGeom>
          <a:solidFill>
            <a:srgbClr val="FF77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709928" y="2450592"/>
            <a:ext cx="393192" cy="393192"/>
          </a:xfrm>
          <a:prstGeom prst="ellipse">
            <a:avLst/>
          </a:prstGeom>
          <a:solidFill>
            <a:srgbClr val="FF77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267712" y="2450592"/>
            <a:ext cx="393192" cy="393192"/>
          </a:xfrm>
          <a:prstGeom prst="ellipse">
            <a:avLst/>
          </a:prstGeom>
          <a:solidFill>
            <a:srgbClr val="FF77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825496" y="2450592"/>
            <a:ext cx="393192" cy="393192"/>
          </a:xfrm>
          <a:prstGeom prst="ellipse">
            <a:avLst/>
          </a:prstGeom>
          <a:solidFill>
            <a:srgbClr val="FF77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383280" y="2450592"/>
            <a:ext cx="393192" cy="393192"/>
          </a:xfrm>
          <a:prstGeom prst="ellipse">
            <a:avLst/>
          </a:prstGeom>
          <a:solidFill>
            <a:srgbClr val="FF77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941063" y="2450592"/>
            <a:ext cx="393192" cy="393192"/>
          </a:xfrm>
          <a:prstGeom prst="ellipse">
            <a:avLst/>
          </a:prstGeom>
          <a:solidFill>
            <a:srgbClr val="FF77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498848" y="2450592"/>
            <a:ext cx="393192" cy="393192"/>
          </a:xfrm>
          <a:prstGeom prst="ellipse">
            <a:avLst/>
          </a:prstGeom>
          <a:solidFill>
            <a:srgbClr val="FF77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056631" y="2450592"/>
            <a:ext cx="393192" cy="393192"/>
          </a:xfrm>
          <a:prstGeom prst="ellipse">
            <a:avLst/>
          </a:prstGeom>
          <a:solidFill>
            <a:srgbClr val="FF77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614416" y="2450592"/>
            <a:ext cx="393192" cy="393192"/>
          </a:xfrm>
          <a:prstGeom prst="ellipse">
            <a:avLst/>
          </a:prstGeom>
          <a:solidFill>
            <a:srgbClr val="FF77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72200" y="2450592"/>
            <a:ext cx="393192" cy="393192"/>
          </a:xfrm>
          <a:prstGeom prst="ellipse">
            <a:avLst/>
          </a:prstGeom>
          <a:solidFill>
            <a:srgbClr val="1D2B45"/>
          </a:solidFill>
          <a:ln w="13970">
            <a:solidFill>
              <a:srgbClr val="344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52144" y="3218688"/>
            <a:ext cx="393192" cy="393192"/>
          </a:xfrm>
          <a:prstGeom prst="ellipse">
            <a:avLst/>
          </a:prstGeom>
          <a:solidFill>
            <a:srgbClr val="1D2B45"/>
          </a:solidFill>
          <a:ln w="13970">
            <a:solidFill>
              <a:srgbClr val="344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709928" y="3218688"/>
            <a:ext cx="393192" cy="393192"/>
          </a:xfrm>
          <a:prstGeom prst="ellipse">
            <a:avLst/>
          </a:prstGeom>
          <a:solidFill>
            <a:srgbClr val="1D2B45"/>
          </a:solidFill>
          <a:ln w="13970">
            <a:solidFill>
              <a:srgbClr val="344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267712" y="3218688"/>
            <a:ext cx="393192" cy="393192"/>
          </a:xfrm>
          <a:prstGeom prst="ellipse">
            <a:avLst/>
          </a:prstGeom>
          <a:solidFill>
            <a:srgbClr val="1D2B45"/>
          </a:solidFill>
          <a:ln w="13970">
            <a:solidFill>
              <a:srgbClr val="344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825496" y="3218688"/>
            <a:ext cx="393192" cy="393192"/>
          </a:xfrm>
          <a:prstGeom prst="ellipse">
            <a:avLst/>
          </a:prstGeom>
          <a:solidFill>
            <a:srgbClr val="1D2B45"/>
          </a:solidFill>
          <a:ln w="13970">
            <a:solidFill>
              <a:srgbClr val="344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383280" y="3218688"/>
            <a:ext cx="393192" cy="393192"/>
          </a:xfrm>
          <a:prstGeom prst="ellipse">
            <a:avLst/>
          </a:prstGeom>
          <a:solidFill>
            <a:srgbClr val="1D2B45"/>
          </a:solidFill>
          <a:ln w="13970">
            <a:solidFill>
              <a:srgbClr val="344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941063" y="3218688"/>
            <a:ext cx="393192" cy="393192"/>
          </a:xfrm>
          <a:prstGeom prst="ellipse">
            <a:avLst/>
          </a:prstGeom>
          <a:solidFill>
            <a:srgbClr val="1D2B45"/>
          </a:solidFill>
          <a:ln w="13970">
            <a:solidFill>
              <a:srgbClr val="344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498848" y="3218688"/>
            <a:ext cx="393192" cy="393192"/>
          </a:xfrm>
          <a:prstGeom prst="ellipse">
            <a:avLst/>
          </a:prstGeom>
          <a:solidFill>
            <a:srgbClr val="1D2B45"/>
          </a:solidFill>
          <a:ln w="13970">
            <a:solidFill>
              <a:srgbClr val="344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056631" y="3218688"/>
            <a:ext cx="393192" cy="393192"/>
          </a:xfrm>
          <a:prstGeom prst="ellipse">
            <a:avLst/>
          </a:prstGeom>
          <a:solidFill>
            <a:srgbClr val="1D2B45"/>
          </a:solidFill>
          <a:ln w="13970">
            <a:solidFill>
              <a:srgbClr val="344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614416" y="3218688"/>
            <a:ext cx="393192" cy="393192"/>
          </a:xfrm>
          <a:prstGeom prst="ellipse">
            <a:avLst/>
          </a:prstGeom>
          <a:solidFill>
            <a:srgbClr val="1D2B45"/>
          </a:solidFill>
          <a:ln w="13970">
            <a:solidFill>
              <a:srgbClr val="344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172200" y="3218688"/>
            <a:ext cx="393192" cy="393192"/>
          </a:xfrm>
          <a:prstGeom prst="ellipse">
            <a:avLst/>
          </a:prstGeom>
          <a:solidFill>
            <a:srgbClr val="1D2B45"/>
          </a:solidFill>
          <a:ln w="13970">
            <a:solidFill>
              <a:srgbClr val="344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33856" y="4242816"/>
            <a:ext cx="5660136" cy="722376"/>
          </a:xfrm>
          <a:prstGeom prst="rect">
            <a:avLst/>
          </a:prstGeom>
          <a:noFill/>
        </p:spPr>
        <p:txBody>
          <a:bodyPr wrap="square" lIns="0" rIns="0" tIns="0" bIns="0" anchor="ctr">
            <a:spAutoFit/>
          </a:bodyPr>
          <a:lstStyle/>
          <a:p>
            <a:pPr algn="l">
              <a:lnSpc>
                <a:spcPct val="110000"/>
              </a:lnSpc>
              <a:spcAft>
                <a:spcPts val="0"/>
              </a:spcAft>
            </a:pPr>
            <a:r>
              <a:rPr sz="1700" b="0">
                <a:solidFill>
                  <a:srgbClr val="A8B5C8"/>
                </a:solidFill>
                <a:latin typeface="Arial"/>
              </a:rPr>
              <a:t>20 final submissions in the nominally</a:t>
            </a:r>
          </a:p>
          <a:p>
            <a:pPr algn="l">
              <a:lnSpc>
                <a:spcPct val="110000"/>
              </a:lnSpc>
              <a:spcAft>
                <a:spcPts val="0"/>
              </a:spcAft>
            </a:pPr>
            <a:r>
              <a:rPr sz="1700" b="0">
                <a:solidFill>
                  <a:srgbClr val="A8B5C8"/>
                </a:solidFill>
                <a:latin typeface="Arial"/>
              </a:rPr>
              <a:t>unavailable condition</a:t>
            </a:r>
          </a:p>
        </p:txBody>
      </p:sp>
      <p:sp>
        <p:nvSpPr>
          <p:cNvPr id="30" name="TextBox 29"/>
          <p:cNvSpPr txBox="1"/>
          <p:nvPr/>
        </p:nvSpPr>
        <p:spPr>
          <a:xfrm>
            <a:off x="7708392" y="2176272"/>
            <a:ext cx="3621024" cy="1143000"/>
          </a:xfrm>
          <a:prstGeom prst="rect">
            <a:avLst/>
          </a:prstGeom>
          <a:noFill/>
        </p:spPr>
        <p:txBody>
          <a:bodyPr wrap="square" lIns="0" rIns="0" tIns="0" bIns="0" anchor="ctr">
            <a:spAutoFit/>
          </a:bodyPr>
          <a:lstStyle/>
          <a:p>
            <a:pPr algn="ctr">
              <a:lnSpc>
                <a:spcPct val="110000"/>
              </a:lnSpc>
              <a:spcAft>
                <a:spcPts val="0"/>
              </a:spcAft>
            </a:pPr>
            <a:r>
              <a:rPr sz="5800" b="1">
                <a:solidFill>
                  <a:srgbClr val="FF7773"/>
                </a:solidFill>
                <a:latin typeface="Arial"/>
              </a:rPr>
              <a:t>9 / 20</a:t>
            </a:r>
          </a:p>
        </p:txBody>
      </p:sp>
      <p:sp>
        <p:nvSpPr>
          <p:cNvPr id="31" name="TextBox 30"/>
          <p:cNvSpPr txBox="1"/>
          <p:nvPr/>
        </p:nvSpPr>
        <p:spPr>
          <a:xfrm>
            <a:off x="7680960" y="3520440"/>
            <a:ext cx="3657600" cy="1353312"/>
          </a:xfrm>
          <a:prstGeom prst="rect">
            <a:avLst/>
          </a:prstGeom>
          <a:noFill/>
        </p:spPr>
        <p:txBody>
          <a:bodyPr wrap="square" lIns="0" rIns="0" tIns="0" bIns="0" anchor="ctr">
            <a:spAutoFit/>
          </a:bodyPr>
          <a:lstStyle/>
          <a:p>
            <a:pPr algn="ctr">
              <a:lnSpc>
                <a:spcPct val="110000"/>
              </a:lnSpc>
              <a:spcAft>
                <a:spcPts val="0"/>
              </a:spcAft>
            </a:pPr>
            <a:r>
              <a:rPr sz="2100" b="1">
                <a:solidFill>
                  <a:srgbClr val="F6F4EF"/>
                </a:solidFill>
                <a:latin typeface="Arial"/>
              </a:rPr>
              <a:t>passed the implemented</a:t>
            </a:r>
          </a:p>
          <a:p>
            <a:pPr algn="ctr">
              <a:lnSpc>
                <a:spcPct val="110000"/>
              </a:lnSpc>
              <a:spcAft>
                <a:spcPts val="0"/>
              </a:spcAft>
            </a:pPr>
            <a:r>
              <a:rPr sz="2100" b="1">
                <a:solidFill>
                  <a:srgbClr val="F6F4EF"/>
                </a:solidFill>
                <a:latin typeface="Arial"/>
              </a:rPr>
              <a:t>family tests, yet the</a:t>
            </a:r>
          </a:p>
          <a:p>
            <a:pPr algn="ctr">
              <a:lnSpc>
                <a:spcPct val="110000"/>
              </a:lnSpc>
              <a:spcAft>
                <a:spcPts val="0"/>
              </a:spcAft>
            </a:pPr>
            <a:r>
              <a:rPr sz="2100" b="1">
                <a:solidFill>
                  <a:srgbClr val="F6F4EF"/>
                </a:solidFill>
                <a:latin typeface="Arial"/>
              </a:rPr>
              <a:t>final gate rejected them</a:t>
            </a:r>
          </a:p>
        </p:txBody>
      </p:sp>
      <p:sp>
        <p:nvSpPr>
          <p:cNvPr id="32" name="Rounded Rectangle 31"/>
          <p:cNvSpPr/>
          <p:nvPr/>
        </p:nvSpPr>
        <p:spPr>
          <a:xfrm>
            <a:off x="1572768" y="5541264"/>
            <a:ext cx="9052560" cy="438912"/>
          </a:xfrm>
          <a:prstGeom prst="roundRect">
            <a:avLst>
              <a:gd name="adj" fmla="val 12000"/>
            </a:avLst>
          </a:prstGeom>
          <a:solidFill>
            <a:srgbClr val="3B2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664208" y="5559551"/>
            <a:ext cx="8869680" cy="402336"/>
          </a:xfrm>
          <a:prstGeom prst="rect">
            <a:avLst/>
          </a:prstGeom>
          <a:noFill/>
        </p:spPr>
        <p:txBody>
          <a:bodyPr wrap="square" lIns="0" rIns="0" tIns="0" bIns="0" anchor="ctr">
            <a:spAutoFit/>
          </a:bodyPr>
          <a:lstStyle/>
          <a:p>
            <a:pPr algn="ctr">
              <a:lnSpc>
                <a:spcPct val="110000"/>
              </a:lnSpc>
              <a:spcAft>
                <a:spcPts val="0"/>
              </a:spcAft>
            </a:pPr>
            <a:r>
              <a:rPr sz="1500" b="1">
                <a:solidFill>
                  <a:srgbClr val="FFC0BC"/>
                </a:solidFill>
                <a:latin typeface="Arial"/>
              </a:rPr>
              <a:t>This is a checker disagreement in selected runs.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9184"/>
            <a:ext cx="9966960" cy="274320"/>
          </a:xfrm>
          <a:prstGeom prst="rect">
            <a:avLst/>
          </a:prstGeom>
          <a:noFill/>
        </p:spPr>
        <p:txBody>
          <a:bodyPr wrap="square" lIns="0" rIns="0" tIns="0" bIns="0" anchor="ctr">
            <a:spAutoFit/>
          </a:bodyPr>
          <a:lstStyle/>
          <a:p>
            <a:pPr algn="l">
              <a:lnSpc>
                <a:spcPct val="110000"/>
              </a:lnSpc>
              <a:spcAft>
                <a:spcPts val="0"/>
              </a:spcAft>
            </a:pPr>
            <a:r>
              <a:rPr sz="1100" b="1">
                <a:solidFill>
                  <a:srgbClr val="77A9FF"/>
                </a:solidFill>
                <a:latin typeface="Arial"/>
              </a:rPr>
              <a:t>WHY IT HAPPENED</a:t>
            </a:r>
          </a:p>
        </p:txBody>
      </p:sp>
      <p:sp>
        <p:nvSpPr>
          <p:cNvPr id="4" name="TextBox 3"/>
          <p:cNvSpPr txBox="1"/>
          <p:nvPr/>
        </p:nvSpPr>
        <p:spPr>
          <a:xfrm>
            <a:off x="640080" y="740664"/>
            <a:ext cx="10927080" cy="841248"/>
          </a:xfrm>
          <a:prstGeom prst="rect">
            <a:avLst/>
          </a:prstGeom>
          <a:noFill/>
        </p:spPr>
        <p:txBody>
          <a:bodyPr wrap="square" lIns="0" rIns="0" tIns="0" bIns="0" anchor="t">
            <a:spAutoFit/>
          </a:bodyPr>
          <a:lstStyle/>
          <a:p>
            <a:pPr algn="l">
              <a:lnSpc>
                <a:spcPct val="110000"/>
              </a:lnSpc>
              <a:spcAft>
                <a:spcPts val="0"/>
              </a:spcAft>
            </a:pPr>
            <a:r>
              <a:rPr sz="3300" b="1">
                <a:solidFill>
                  <a:srgbClr val="F6F4EF"/>
                </a:solidFill>
                <a:latin typeface="Arial"/>
              </a:rPr>
              <a:t>The benchmark had a second gate</a:t>
            </a:r>
          </a:p>
        </p:txBody>
      </p:sp>
      <p:cxnSp>
        <p:nvCxnSpPr>
          <p:cNvPr id="5" name="Connector 4"/>
          <p:cNvCxnSpPr/>
          <p:nvPr/>
        </p:nvCxnSpPr>
        <p:spPr>
          <a:xfrm>
            <a:off x="640080" y="6473952"/>
            <a:ext cx="10908792" cy="0"/>
          </a:xfrm>
          <a:prstGeom prst="line">
            <a:avLst/>
          </a:prstGeom>
          <a:ln w="19050">
            <a:solidFill>
              <a:srgbClr val="34445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528816"/>
            <a:ext cx="10424160" cy="173736"/>
          </a:xfrm>
          <a:prstGeom prst="rect">
            <a:avLst/>
          </a:prstGeom>
          <a:noFill/>
        </p:spPr>
        <p:txBody>
          <a:bodyPr wrap="square" lIns="0" rIns="0" tIns="0" bIns="0" anchor="ctr">
            <a:spAutoFit/>
          </a:bodyPr>
          <a:lstStyle/>
          <a:p>
            <a:pPr algn="l">
              <a:lnSpc>
                <a:spcPct val="110000"/>
              </a:lnSpc>
              <a:spcAft>
                <a:spcPts val="0"/>
              </a:spcAft>
            </a:pPr>
            <a:r>
              <a:rPr sz="850" b="0">
                <a:solidFill>
                  <a:srgbClr val="A8B5C8"/>
                </a:solidFill>
                <a:latin typeface="Arial"/>
              </a:rPr>
              <a:t>Evaluator rule and receipts: paper/final.md, Results; README.md.</a:t>
            </a:r>
          </a:p>
        </p:txBody>
      </p:sp>
      <p:sp>
        <p:nvSpPr>
          <p:cNvPr id="7" name="TextBox 6"/>
          <p:cNvSpPr txBox="1"/>
          <p:nvPr/>
        </p:nvSpPr>
        <p:spPr>
          <a:xfrm>
            <a:off x="11064240" y="6501384"/>
            <a:ext cx="457200" cy="219456"/>
          </a:xfrm>
          <a:prstGeom prst="rect">
            <a:avLst/>
          </a:prstGeom>
          <a:noFill/>
        </p:spPr>
        <p:txBody>
          <a:bodyPr wrap="square" lIns="0" rIns="0" tIns="0" bIns="0" anchor="ctr">
            <a:spAutoFit/>
          </a:bodyPr>
          <a:lstStyle/>
          <a:p>
            <a:pPr algn="r">
              <a:lnSpc>
                <a:spcPct val="110000"/>
              </a:lnSpc>
              <a:spcAft>
                <a:spcPts val="0"/>
              </a:spcAft>
            </a:pPr>
            <a:r>
              <a:rPr sz="1000" b="0">
                <a:solidFill>
                  <a:srgbClr val="A8B5C8"/>
                </a:solidFill>
                <a:latin typeface="Arial"/>
              </a:rPr>
              <a:t>06</a:t>
            </a:r>
          </a:p>
        </p:txBody>
      </p:sp>
      <p:sp>
        <p:nvSpPr>
          <p:cNvPr id="8" name="Rounded Rectangle 7"/>
          <p:cNvSpPr/>
          <p:nvPr/>
        </p:nvSpPr>
        <p:spPr>
          <a:xfrm>
            <a:off x="768096" y="1984248"/>
            <a:ext cx="3840480" cy="1664208"/>
          </a:xfrm>
          <a:prstGeom prst="roundRect">
            <a:avLst>
              <a:gd name="adj" fmla="val 12000"/>
            </a:avLst>
          </a:prstGeom>
          <a:solidFill>
            <a:srgbClr val="173D3B"/>
          </a:solidFill>
          <a:ln w="15240">
            <a:solidFill>
              <a:srgbClr val="2A7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258568"/>
            <a:ext cx="3383280" cy="347472"/>
          </a:xfrm>
          <a:prstGeom prst="rect">
            <a:avLst/>
          </a:prstGeom>
          <a:noFill/>
        </p:spPr>
        <p:txBody>
          <a:bodyPr wrap="square" lIns="0" rIns="0" tIns="0" bIns="0" anchor="ctr">
            <a:spAutoFit/>
          </a:bodyPr>
          <a:lstStyle/>
          <a:p>
            <a:pPr algn="ctr">
              <a:lnSpc>
                <a:spcPct val="110000"/>
              </a:lnSpc>
              <a:spcAft>
                <a:spcPts val="0"/>
              </a:spcAft>
            </a:pPr>
            <a:r>
              <a:rPr sz="1400" b="1">
                <a:solidFill>
                  <a:srgbClr val="5DDFC4"/>
                </a:solidFill>
                <a:latin typeface="Arial"/>
              </a:rPr>
              <a:t>IMPLEMENTED TESTS</a:t>
            </a:r>
          </a:p>
        </p:txBody>
      </p:sp>
      <p:sp>
        <p:nvSpPr>
          <p:cNvPr id="10" name="TextBox 9"/>
          <p:cNvSpPr txBox="1"/>
          <p:nvPr/>
        </p:nvSpPr>
        <p:spPr>
          <a:xfrm>
            <a:off x="1014984" y="2779776"/>
            <a:ext cx="3374136" cy="512064"/>
          </a:xfrm>
          <a:prstGeom prst="rect">
            <a:avLst/>
          </a:prstGeom>
          <a:noFill/>
        </p:spPr>
        <p:txBody>
          <a:bodyPr wrap="square" lIns="0" rIns="0" tIns="0" bIns="0" anchor="ctr">
            <a:spAutoFit/>
          </a:bodyPr>
          <a:lstStyle/>
          <a:p>
            <a:pPr algn="ctr">
              <a:lnSpc>
                <a:spcPct val="110000"/>
              </a:lnSpc>
              <a:spcAft>
                <a:spcPts val="0"/>
              </a:spcAft>
            </a:pPr>
            <a:r>
              <a:rPr sz="2900" b="1">
                <a:solidFill>
                  <a:srgbClr val="5DDFC4"/>
                </a:solidFill>
                <a:latin typeface="Arial"/>
              </a:rPr>
              <a:t>PASS</a:t>
            </a:r>
          </a:p>
        </p:txBody>
      </p:sp>
      <p:sp>
        <p:nvSpPr>
          <p:cNvPr id="11" name="TextBox 10"/>
          <p:cNvSpPr txBox="1"/>
          <p:nvPr/>
        </p:nvSpPr>
        <p:spPr>
          <a:xfrm>
            <a:off x="4782312" y="2569464"/>
            <a:ext cx="950976" cy="658368"/>
          </a:xfrm>
          <a:prstGeom prst="rect">
            <a:avLst/>
          </a:prstGeom>
          <a:noFill/>
        </p:spPr>
        <p:txBody>
          <a:bodyPr wrap="square" lIns="0" rIns="0" tIns="0" bIns="0" anchor="ctr">
            <a:spAutoFit/>
          </a:bodyPr>
          <a:lstStyle/>
          <a:p>
            <a:pPr algn="ctr">
              <a:lnSpc>
                <a:spcPct val="110000"/>
              </a:lnSpc>
              <a:spcAft>
                <a:spcPts val="0"/>
              </a:spcAft>
            </a:pPr>
            <a:r>
              <a:rPr sz="1900" b="1">
                <a:solidFill>
                  <a:srgbClr val="A8B5C8"/>
                </a:solidFill>
                <a:latin typeface="Arial"/>
              </a:rPr>
              <a:t>AND</a:t>
            </a:r>
          </a:p>
        </p:txBody>
      </p:sp>
      <p:sp>
        <p:nvSpPr>
          <p:cNvPr id="12" name="Rounded Rectangle 11"/>
          <p:cNvSpPr/>
          <p:nvPr/>
        </p:nvSpPr>
        <p:spPr>
          <a:xfrm>
            <a:off x="5870448" y="1984248"/>
            <a:ext cx="3840480" cy="1664208"/>
          </a:xfrm>
          <a:prstGeom prst="roundRect">
            <a:avLst>
              <a:gd name="adj" fmla="val 12000"/>
            </a:avLst>
          </a:prstGeom>
          <a:solidFill>
            <a:srgbClr val="3C2836"/>
          </a:solidFill>
          <a:ln w="15240">
            <a:solidFill>
              <a:srgbClr val="7550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08192" y="2258568"/>
            <a:ext cx="3383280" cy="347472"/>
          </a:xfrm>
          <a:prstGeom prst="rect">
            <a:avLst/>
          </a:prstGeom>
          <a:noFill/>
        </p:spPr>
        <p:txBody>
          <a:bodyPr wrap="square" lIns="0" rIns="0" tIns="0" bIns="0" anchor="ctr">
            <a:spAutoFit/>
          </a:bodyPr>
          <a:lstStyle/>
          <a:p>
            <a:pPr algn="ctr">
              <a:lnSpc>
                <a:spcPct val="110000"/>
              </a:lnSpc>
              <a:spcAft>
                <a:spcPts val="0"/>
              </a:spcAft>
            </a:pPr>
            <a:r>
              <a:rPr sz="1400" b="1">
                <a:solidFill>
                  <a:srgbClr val="FFC0BC"/>
                </a:solidFill>
                <a:latin typeface="Arial"/>
              </a:rPr>
              <a:t>HIDDEN CONDITION FLAG</a:t>
            </a:r>
          </a:p>
        </p:txBody>
      </p:sp>
      <p:sp>
        <p:nvSpPr>
          <p:cNvPr id="14" name="TextBox 13"/>
          <p:cNvSpPr txBox="1"/>
          <p:nvPr/>
        </p:nvSpPr>
        <p:spPr>
          <a:xfrm>
            <a:off x="6117336" y="2779776"/>
            <a:ext cx="3374136" cy="512064"/>
          </a:xfrm>
          <a:prstGeom prst="rect">
            <a:avLst/>
          </a:prstGeom>
          <a:noFill/>
        </p:spPr>
        <p:txBody>
          <a:bodyPr wrap="square" lIns="0" rIns="0" tIns="0" bIns="0" anchor="ctr">
            <a:spAutoFit/>
          </a:bodyPr>
          <a:lstStyle/>
          <a:p>
            <a:pPr algn="ctr">
              <a:lnSpc>
                <a:spcPct val="110000"/>
              </a:lnSpc>
              <a:spcAft>
                <a:spcPts val="0"/>
              </a:spcAft>
            </a:pPr>
            <a:r>
              <a:rPr sz="2900" b="1">
                <a:solidFill>
                  <a:srgbClr val="FF7773"/>
                </a:solidFill>
                <a:latin typeface="Arial"/>
              </a:rPr>
              <a:t>FALSE</a:t>
            </a:r>
          </a:p>
        </p:txBody>
      </p:sp>
      <p:sp>
        <p:nvSpPr>
          <p:cNvPr id="15" name="TextBox 14"/>
          <p:cNvSpPr txBox="1"/>
          <p:nvPr/>
        </p:nvSpPr>
        <p:spPr>
          <a:xfrm>
            <a:off x="9921240" y="2569464"/>
            <a:ext cx="475488" cy="658368"/>
          </a:xfrm>
          <a:prstGeom prst="rect">
            <a:avLst/>
          </a:prstGeom>
          <a:noFill/>
        </p:spPr>
        <p:txBody>
          <a:bodyPr wrap="square" lIns="0" rIns="0" tIns="0" bIns="0" anchor="ctr">
            <a:spAutoFit/>
          </a:bodyPr>
          <a:lstStyle/>
          <a:p>
            <a:pPr algn="ctr">
              <a:lnSpc>
                <a:spcPct val="110000"/>
              </a:lnSpc>
              <a:spcAft>
                <a:spcPts val="0"/>
              </a:spcAft>
            </a:pPr>
            <a:r>
              <a:rPr sz="3100" b="1">
                <a:solidFill>
                  <a:srgbClr val="A8B5C8"/>
                </a:solidFill>
                <a:latin typeface="Arial"/>
              </a:rPr>
              <a:t>=</a:t>
            </a:r>
          </a:p>
        </p:txBody>
      </p:sp>
      <p:sp>
        <p:nvSpPr>
          <p:cNvPr id="16" name="Rounded Rectangle 15"/>
          <p:cNvSpPr/>
          <p:nvPr/>
        </p:nvSpPr>
        <p:spPr>
          <a:xfrm>
            <a:off x="10479024" y="2377440"/>
            <a:ext cx="960120" cy="822960"/>
          </a:xfrm>
          <a:prstGeom prst="roundRect">
            <a:avLst>
              <a:gd name="adj" fmla="val 12000"/>
            </a:avLst>
          </a:prstGeom>
          <a:solidFill>
            <a:srgbClr val="633243"/>
          </a:solidFill>
          <a:ln w="15240">
            <a:solidFill>
              <a:srgbClr val="9F54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33888" y="2487168"/>
            <a:ext cx="841248" cy="512064"/>
          </a:xfrm>
          <a:prstGeom prst="rect">
            <a:avLst/>
          </a:prstGeom>
          <a:noFill/>
        </p:spPr>
        <p:txBody>
          <a:bodyPr wrap="square" lIns="0" rIns="0" tIns="0" bIns="0" anchor="ctr">
            <a:spAutoFit/>
          </a:bodyPr>
          <a:lstStyle/>
          <a:p>
            <a:pPr algn="ctr">
              <a:lnSpc>
                <a:spcPct val="110000"/>
              </a:lnSpc>
              <a:spcAft>
                <a:spcPts val="0"/>
              </a:spcAft>
            </a:pPr>
            <a:r>
              <a:rPr sz="1800" b="1">
                <a:solidFill>
                  <a:srgbClr val="F6F4EF"/>
                </a:solidFill>
                <a:latin typeface="Arial"/>
              </a:rPr>
              <a:t>FAIL</a:t>
            </a:r>
          </a:p>
        </p:txBody>
      </p:sp>
      <p:sp>
        <p:nvSpPr>
          <p:cNvPr id="18" name="TextBox 17"/>
          <p:cNvSpPr txBox="1"/>
          <p:nvPr/>
        </p:nvSpPr>
        <p:spPr>
          <a:xfrm>
            <a:off x="786384" y="4261104"/>
            <a:ext cx="10725912" cy="457200"/>
          </a:xfrm>
          <a:prstGeom prst="rect">
            <a:avLst/>
          </a:prstGeom>
          <a:noFill/>
        </p:spPr>
        <p:txBody>
          <a:bodyPr wrap="square" lIns="0" rIns="0" tIns="0" bIns="0" anchor="ctr">
            <a:spAutoFit/>
          </a:bodyPr>
          <a:lstStyle/>
          <a:p>
            <a:pPr algn="ctr">
              <a:lnSpc>
                <a:spcPct val="110000"/>
              </a:lnSpc>
              <a:spcAft>
                <a:spcPts val="0"/>
              </a:spcAft>
            </a:pPr>
            <a:r>
              <a:rPr sz="2100" b="1">
                <a:solidFill>
                  <a:srgbClr val="F6F4EF"/>
                </a:solidFill>
                <a:latin typeface="Arial"/>
              </a:rPr>
              <a:t>The extra flag was false in the nominally unavailable condition.</a:t>
            </a:r>
          </a:p>
        </p:txBody>
      </p:sp>
      <p:sp>
        <p:nvSpPr>
          <p:cNvPr id="19" name="TextBox 18"/>
          <p:cNvSpPr txBox="1"/>
          <p:nvPr/>
        </p:nvSpPr>
        <p:spPr>
          <a:xfrm>
            <a:off x="786384" y="4974336"/>
            <a:ext cx="10725912" cy="502920"/>
          </a:xfrm>
          <a:prstGeom prst="rect">
            <a:avLst/>
          </a:prstGeom>
          <a:noFill/>
        </p:spPr>
        <p:txBody>
          <a:bodyPr wrap="square" lIns="0" rIns="0" tIns="0" bIns="0" anchor="ctr">
            <a:spAutoFit/>
          </a:bodyPr>
          <a:lstStyle/>
          <a:p>
            <a:pPr algn="ctr">
              <a:lnSpc>
                <a:spcPct val="110000"/>
              </a:lnSpc>
              <a:spcAft>
                <a:spcPts val="0"/>
              </a:spcAft>
            </a:pPr>
            <a:r>
              <a:rPr sz="1800" b="0">
                <a:solidFill>
                  <a:srgbClr val="FFC96E"/>
                </a:solidFill>
                <a:latin typeface="Arial"/>
              </a:rPr>
              <a:t>Passing these finite tests still does not prove that code is secure in general.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9184"/>
            <a:ext cx="9966960" cy="274320"/>
          </a:xfrm>
          <a:prstGeom prst="rect">
            <a:avLst/>
          </a:prstGeom>
          <a:noFill/>
        </p:spPr>
        <p:txBody>
          <a:bodyPr wrap="square" lIns="0" rIns="0" tIns="0" bIns="0" anchor="ctr">
            <a:spAutoFit/>
          </a:bodyPr>
          <a:lstStyle/>
          <a:p>
            <a:pPr algn="l">
              <a:lnSpc>
                <a:spcPct val="110000"/>
              </a:lnSpc>
              <a:spcAft>
                <a:spcPts val="0"/>
              </a:spcAft>
            </a:pPr>
            <a:r>
              <a:rPr sz="1100" b="1">
                <a:solidFill>
                  <a:srgbClr val="77A9FF"/>
                </a:solidFill>
                <a:latin typeface="Arial"/>
              </a:rPr>
              <a:t>WHAT WE BUILT</a:t>
            </a:r>
          </a:p>
        </p:txBody>
      </p:sp>
      <p:sp>
        <p:nvSpPr>
          <p:cNvPr id="4" name="TextBox 3"/>
          <p:cNvSpPr txBox="1"/>
          <p:nvPr/>
        </p:nvSpPr>
        <p:spPr>
          <a:xfrm>
            <a:off x="640080" y="740664"/>
            <a:ext cx="10927080" cy="841248"/>
          </a:xfrm>
          <a:prstGeom prst="rect">
            <a:avLst/>
          </a:prstGeom>
          <a:noFill/>
        </p:spPr>
        <p:txBody>
          <a:bodyPr wrap="square" lIns="0" rIns="0" tIns="0" bIns="0" anchor="t">
            <a:spAutoFit/>
          </a:bodyPr>
          <a:lstStyle/>
          <a:p>
            <a:pPr algn="l">
              <a:lnSpc>
                <a:spcPct val="110000"/>
              </a:lnSpc>
              <a:spcAft>
                <a:spcPts val="0"/>
              </a:spcAft>
            </a:pPr>
            <a:r>
              <a:rPr sz="3100" b="1">
                <a:solidFill>
                  <a:srgbClr val="F6F4EF"/>
                </a:solidFill>
                <a:latin typeface="Arial"/>
              </a:rPr>
              <a:t>We checked the evidence from several angles</a:t>
            </a:r>
          </a:p>
        </p:txBody>
      </p:sp>
      <p:cxnSp>
        <p:nvCxnSpPr>
          <p:cNvPr id="5" name="Connector 4"/>
          <p:cNvCxnSpPr/>
          <p:nvPr/>
        </p:nvCxnSpPr>
        <p:spPr>
          <a:xfrm>
            <a:off x="640080" y="6473952"/>
            <a:ext cx="10908792" cy="0"/>
          </a:xfrm>
          <a:prstGeom prst="line">
            <a:avLst/>
          </a:prstGeom>
          <a:ln w="19050">
            <a:solidFill>
              <a:srgbClr val="34445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528816"/>
            <a:ext cx="10424160" cy="173736"/>
          </a:xfrm>
          <a:prstGeom prst="rect">
            <a:avLst/>
          </a:prstGeom>
          <a:noFill/>
        </p:spPr>
        <p:txBody>
          <a:bodyPr wrap="square" lIns="0" rIns="0" tIns="0" bIns="0" anchor="ctr">
            <a:spAutoFit/>
          </a:bodyPr>
          <a:lstStyle/>
          <a:p>
            <a:pPr algn="l">
              <a:lnSpc>
                <a:spcPct val="110000"/>
              </a:lnSpc>
              <a:spcAft>
                <a:spcPts val="0"/>
              </a:spcAft>
            </a:pPr>
            <a:r>
              <a:rPr sz="850" b="0">
                <a:solidFill>
                  <a:srgbClr val="A8B5C8"/>
                </a:solidFill>
                <a:latin typeface="Arial"/>
              </a:rPr>
              <a:t>README.md; docs/MEASUREMENT_FOLLOWUP_20261030.md; docs/V7_DECISIVE_EXCLUDED_PILOT_20261005.md.</a:t>
            </a:r>
          </a:p>
        </p:txBody>
      </p:sp>
      <p:sp>
        <p:nvSpPr>
          <p:cNvPr id="7" name="TextBox 6"/>
          <p:cNvSpPr txBox="1"/>
          <p:nvPr/>
        </p:nvSpPr>
        <p:spPr>
          <a:xfrm>
            <a:off x="11064240" y="6501384"/>
            <a:ext cx="457200" cy="219456"/>
          </a:xfrm>
          <a:prstGeom prst="rect">
            <a:avLst/>
          </a:prstGeom>
          <a:noFill/>
        </p:spPr>
        <p:txBody>
          <a:bodyPr wrap="square" lIns="0" rIns="0" tIns="0" bIns="0" anchor="ctr">
            <a:spAutoFit/>
          </a:bodyPr>
          <a:lstStyle/>
          <a:p>
            <a:pPr algn="r">
              <a:lnSpc>
                <a:spcPct val="110000"/>
              </a:lnSpc>
              <a:spcAft>
                <a:spcPts val="0"/>
              </a:spcAft>
            </a:pPr>
            <a:r>
              <a:rPr sz="1000" b="0">
                <a:solidFill>
                  <a:srgbClr val="A8B5C8"/>
                </a:solidFill>
                <a:latin typeface="Arial"/>
              </a:rPr>
              <a:t>07</a:t>
            </a:r>
          </a:p>
        </p:txBody>
      </p:sp>
      <p:sp>
        <p:nvSpPr>
          <p:cNvPr id="8" name="Rounded Rectangle 7"/>
          <p:cNvSpPr/>
          <p:nvPr/>
        </p:nvSpPr>
        <p:spPr>
          <a:xfrm>
            <a:off x="713232" y="1874519"/>
            <a:ext cx="5285232" cy="1618488"/>
          </a:xfrm>
          <a:prstGeom prst="roundRect">
            <a:avLst>
              <a:gd name="adj" fmla="val 12000"/>
            </a:avLst>
          </a:prstGeom>
          <a:solidFill>
            <a:srgbClr val="17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13232" y="1874519"/>
            <a:ext cx="109728" cy="1618488"/>
          </a:xfrm>
          <a:prstGeom prst="rect">
            <a:avLst/>
          </a:prstGeom>
          <a:solidFill>
            <a:srgbClr val="77A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039112"/>
            <a:ext cx="4553712" cy="329184"/>
          </a:xfrm>
          <a:prstGeom prst="rect">
            <a:avLst/>
          </a:prstGeom>
          <a:noFill/>
        </p:spPr>
        <p:txBody>
          <a:bodyPr wrap="square" lIns="0" rIns="0" tIns="0" bIns="0" anchor="ctr">
            <a:spAutoFit/>
          </a:bodyPr>
          <a:lstStyle/>
          <a:p>
            <a:pPr algn="l">
              <a:lnSpc>
                <a:spcPct val="110000"/>
              </a:lnSpc>
              <a:spcAft>
                <a:spcPts val="0"/>
              </a:spcAft>
            </a:pPr>
            <a:r>
              <a:rPr sz="1300" b="1">
                <a:solidFill>
                  <a:srgbClr val="77A9FF"/>
                </a:solidFill>
                <a:latin typeface="Arial"/>
              </a:rPr>
              <a:t>ARCHIVE REPLAY</a:t>
            </a:r>
          </a:p>
        </p:txBody>
      </p:sp>
      <p:sp>
        <p:nvSpPr>
          <p:cNvPr id="11" name="TextBox 10"/>
          <p:cNvSpPr txBox="1"/>
          <p:nvPr/>
        </p:nvSpPr>
        <p:spPr>
          <a:xfrm>
            <a:off x="987552" y="2450591"/>
            <a:ext cx="4617720" cy="758952"/>
          </a:xfrm>
          <a:prstGeom prst="rect">
            <a:avLst/>
          </a:prstGeom>
          <a:noFill/>
        </p:spPr>
        <p:txBody>
          <a:bodyPr wrap="square" lIns="0" rIns="0" tIns="0" bIns="0" anchor="ctr">
            <a:spAutoFit/>
          </a:bodyPr>
          <a:lstStyle/>
          <a:p>
            <a:pPr algn="l">
              <a:lnSpc>
                <a:spcPct val="110000"/>
              </a:lnSpc>
              <a:spcAft>
                <a:spcPts val="0"/>
              </a:spcAft>
            </a:pPr>
            <a:r>
              <a:rPr sz="1830" b="1">
                <a:solidFill>
                  <a:srgbClr val="F6F4EF"/>
                </a:solidFill>
                <a:latin typeface="Arial"/>
              </a:rPr>
              <a:t>Recomputed the 40-run result</a:t>
            </a:r>
          </a:p>
          <a:p>
            <a:pPr algn="l">
              <a:lnSpc>
                <a:spcPct val="110000"/>
              </a:lnSpc>
              <a:spcAft>
                <a:spcPts val="0"/>
              </a:spcAft>
            </a:pPr>
            <a:r>
              <a:rPr sz="1830" b="1">
                <a:solidFill>
                  <a:srgbClr val="F6F4EF"/>
                </a:solidFill>
                <a:latin typeface="Arial"/>
              </a:rPr>
              <a:t>from saved receipts.</a:t>
            </a:r>
          </a:p>
        </p:txBody>
      </p:sp>
      <p:sp>
        <p:nvSpPr>
          <p:cNvPr id="12" name="Rounded Rectangle 11"/>
          <p:cNvSpPr/>
          <p:nvPr/>
        </p:nvSpPr>
        <p:spPr>
          <a:xfrm>
            <a:off x="6144768" y="1874519"/>
            <a:ext cx="5285232" cy="1618488"/>
          </a:xfrm>
          <a:prstGeom prst="roundRect">
            <a:avLst>
              <a:gd name="adj" fmla="val 12000"/>
            </a:avLst>
          </a:prstGeom>
          <a:solidFill>
            <a:srgbClr val="17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44768" y="1874519"/>
            <a:ext cx="109728" cy="1618488"/>
          </a:xfrm>
          <a:prstGeom prst="rect">
            <a:avLst/>
          </a:prstGeom>
          <a:solidFill>
            <a:srgbClr val="5DD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039112"/>
            <a:ext cx="4553712" cy="329184"/>
          </a:xfrm>
          <a:prstGeom prst="rect">
            <a:avLst/>
          </a:prstGeom>
          <a:noFill/>
        </p:spPr>
        <p:txBody>
          <a:bodyPr wrap="square" lIns="0" rIns="0" tIns="0" bIns="0" anchor="ctr">
            <a:spAutoFit/>
          </a:bodyPr>
          <a:lstStyle/>
          <a:p>
            <a:pPr algn="l">
              <a:lnSpc>
                <a:spcPct val="110000"/>
              </a:lnSpc>
              <a:spcAft>
                <a:spcPts val="0"/>
              </a:spcAft>
            </a:pPr>
            <a:r>
              <a:rPr sz="1300" b="1">
                <a:solidFill>
                  <a:srgbClr val="5DDFC4"/>
                </a:solidFill>
                <a:latin typeface="Arial"/>
              </a:rPr>
              <a:t>TASK CATALOG</a:t>
            </a:r>
          </a:p>
        </p:txBody>
      </p:sp>
      <p:sp>
        <p:nvSpPr>
          <p:cNvPr id="15" name="TextBox 14"/>
          <p:cNvSpPr txBox="1"/>
          <p:nvPr/>
        </p:nvSpPr>
        <p:spPr>
          <a:xfrm>
            <a:off x="6419088" y="2450591"/>
            <a:ext cx="4617720" cy="758952"/>
          </a:xfrm>
          <a:prstGeom prst="rect">
            <a:avLst/>
          </a:prstGeom>
          <a:noFill/>
        </p:spPr>
        <p:txBody>
          <a:bodyPr wrap="square" lIns="0" rIns="0" tIns="0" bIns="0" anchor="ctr">
            <a:spAutoFit/>
          </a:bodyPr>
          <a:lstStyle/>
          <a:p>
            <a:pPr algn="l">
              <a:lnSpc>
                <a:spcPct val="110000"/>
              </a:lnSpc>
              <a:spcAft>
                <a:spcPts val="0"/>
              </a:spcAft>
            </a:pPr>
            <a:r>
              <a:rPr sz="1830" b="1">
                <a:solidFill>
                  <a:srgbClr val="F6F4EF"/>
                </a:solidFill>
                <a:latin typeface="Arial"/>
              </a:rPr>
              <a:t>Authored 20 finite task families;</a:t>
            </a:r>
          </a:p>
          <a:p>
            <a:pPr algn="l">
              <a:lnSpc>
                <a:spcPct val="110000"/>
              </a:lnSpc>
              <a:spcAft>
                <a:spcPts val="0"/>
              </a:spcAft>
            </a:pPr>
            <a:r>
              <a:rPr sz="1830" b="1">
                <a:solidFill>
                  <a:srgbClr val="F6F4EF"/>
                </a:solidFill>
                <a:latin typeface="Arial"/>
              </a:rPr>
              <a:t>human review is still pending.</a:t>
            </a:r>
          </a:p>
        </p:txBody>
      </p:sp>
      <p:sp>
        <p:nvSpPr>
          <p:cNvPr id="16" name="Rounded Rectangle 15"/>
          <p:cNvSpPr/>
          <p:nvPr/>
        </p:nvSpPr>
        <p:spPr>
          <a:xfrm>
            <a:off x="713232" y="3858768"/>
            <a:ext cx="5285232" cy="1618488"/>
          </a:xfrm>
          <a:prstGeom prst="roundRect">
            <a:avLst>
              <a:gd name="adj" fmla="val 12000"/>
            </a:avLst>
          </a:prstGeom>
          <a:solidFill>
            <a:srgbClr val="17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13232" y="3858768"/>
            <a:ext cx="109728" cy="1618488"/>
          </a:xfrm>
          <a:prstGeom prst="rect">
            <a:avLst/>
          </a:prstGeom>
          <a:solidFill>
            <a:srgbClr val="FFC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023359"/>
            <a:ext cx="4553712" cy="329184"/>
          </a:xfrm>
          <a:prstGeom prst="rect">
            <a:avLst/>
          </a:prstGeom>
          <a:noFill/>
        </p:spPr>
        <p:txBody>
          <a:bodyPr wrap="square" lIns="0" rIns="0" tIns="0" bIns="0" anchor="ctr">
            <a:spAutoFit/>
          </a:bodyPr>
          <a:lstStyle/>
          <a:p>
            <a:pPr algn="l">
              <a:lnSpc>
                <a:spcPct val="110000"/>
              </a:lnSpc>
              <a:spcAft>
                <a:spcPts val="0"/>
              </a:spcAft>
            </a:pPr>
            <a:r>
              <a:rPr sz="1300" b="1">
                <a:solidFill>
                  <a:srgbClr val="FFC96E"/>
                </a:solidFill>
                <a:latin typeface="Arial"/>
              </a:rPr>
              <a:t>TEST CALIBRATION</a:t>
            </a:r>
          </a:p>
        </p:txBody>
      </p:sp>
      <p:sp>
        <p:nvSpPr>
          <p:cNvPr id="19" name="TextBox 18"/>
          <p:cNvSpPr txBox="1"/>
          <p:nvPr/>
        </p:nvSpPr>
        <p:spPr>
          <a:xfrm>
            <a:off x="987552" y="4434840"/>
            <a:ext cx="4617720" cy="758952"/>
          </a:xfrm>
          <a:prstGeom prst="rect">
            <a:avLst/>
          </a:prstGeom>
          <a:noFill/>
        </p:spPr>
        <p:txBody>
          <a:bodyPr wrap="square" lIns="0" rIns="0" tIns="0" bIns="0" anchor="ctr">
            <a:spAutoFit/>
          </a:bodyPr>
          <a:lstStyle/>
          <a:p>
            <a:pPr algn="l">
              <a:lnSpc>
                <a:spcPct val="110000"/>
              </a:lnSpc>
              <a:spcAft>
                <a:spcPts val="0"/>
              </a:spcAft>
            </a:pPr>
            <a:r>
              <a:rPr sz="1830" b="1">
                <a:solidFill>
                  <a:srgbClr val="F6F4EF"/>
                </a:solidFill>
                <a:latin typeface="Arial"/>
              </a:rPr>
              <a:t>Rechecked 1,820 authored</a:t>
            </a:r>
          </a:p>
          <a:p>
            <a:pPr algn="l">
              <a:lnSpc>
                <a:spcPct val="110000"/>
              </a:lnSpc>
              <a:spcAft>
                <a:spcPts val="0"/>
              </a:spcAft>
            </a:pPr>
            <a:r>
              <a:rPr sz="1830" b="1">
                <a:solidFill>
                  <a:srgbClr val="F6F4EF"/>
                </a:solidFill>
                <a:latin typeface="Arial"/>
              </a:rPr>
              <a:t>candidate/condition decisions.</a:t>
            </a:r>
          </a:p>
        </p:txBody>
      </p:sp>
      <p:sp>
        <p:nvSpPr>
          <p:cNvPr id="20" name="Rounded Rectangle 19"/>
          <p:cNvSpPr/>
          <p:nvPr/>
        </p:nvSpPr>
        <p:spPr>
          <a:xfrm>
            <a:off x="6144768" y="3858768"/>
            <a:ext cx="5285232" cy="1618488"/>
          </a:xfrm>
          <a:prstGeom prst="roundRect">
            <a:avLst>
              <a:gd name="adj" fmla="val 12000"/>
            </a:avLst>
          </a:prstGeom>
          <a:solidFill>
            <a:srgbClr val="17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44768" y="3858768"/>
            <a:ext cx="109728" cy="1618488"/>
          </a:xfrm>
          <a:prstGeom prst="rect">
            <a:avLst/>
          </a:prstGeom>
          <a:solidFill>
            <a:srgbClr val="FF77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023359"/>
            <a:ext cx="4553712" cy="329184"/>
          </a:xfrm>
          <a:prstGeom prst="rect">
            <a:avLst/>
          </a:prstGeom>
          <a:noFill/>
        </p:spPr>
        <p:txBody>
          <a:bodyPr wrap="square" lIns="0" rIns="0" tIns="0" bIns="0" anchor="ctr">
            <a:spAutoFit/>
          </a:bodyPr>
          <a:lstStyle/>
          <a:p>
            <a:pPr algn="l">
              <a:lnSpc>
                <a:spcPct val="110000"/>
              </a:lnSpc>
              <a:spcAft>
                <a:spcPts val="0"/>
              </a:spcAft>
            </a:pPr>
            <a:r>
              <a:rPr sz="1300" b="1">
                <a:solidFill>
                  <a:srgbClr val="FF7773"/>
                </a:solidFill>
                <a:latin typeface="Arial"/>
              </a:rPr>
              <a:t>CORRECTED PILOT</a:t>
            </a:r>
          </a:p>
        </p:txBody>
      </p:sp>
      <p:sp>
        <p:nvSpPr>
          <p:cNvPr id="23" name="TextBox 22"/>
          <p:cNvSpPr txBox="1"/>
          <p:nvPr/>
        </p:nvSpPr>
        <p:spPr>
          <a:xfrm>
            <a:off x="6419088" y="4434840"/>
            <a:ext cx="4617720" cy="758952"/>
          </a:xfrm>
          <a:prstGeom prst="rect">
            <a:avLst/>
          </a:prstGeom>
          <a:noFill/>
        </p:spPr>
        <p:txBody>
          <a:bodyPr wrap="square" lIns="0" rIns="0" tIns="0" bIns="0" anchor="ctr">
            <a:spAutoFit/>
          </a:bodyPr>
          <a:lstStyle/>
          <a:p>
            <a:pPr algn="l">
              <a:lnSpc>
                <a:spcPct val="110000"/>
              </a:lnSpc>
              <a:spcAft>
                <a:spcPts val="0"/>
              </a:spcAft>
            </a:pPr>
            <a:r>
              <a:rPr sz="1830" b="1">
                <a:solidFill>
                  <a:srgbClr val="F6F4EF"/>
                </a:solidFill>
                <a:latin typeface="Arial"/>
              </a:rPr>
              <a:t>Completed 30 separate, excluded</a:t>
            </a:r>
          </a:p>
          <a:p>
            <a:pPr algn="l">
              <a:lnSpc>
                <a:spcPct val="110000"/>
              </a:lnSpc>
              <a:spcAft>
                <a:spcPts val="0"/>
              </a:spcAft>
            </a:pPr>
            <a:r>
              <a:rPr sz="1830" b="1">
                <a:solidFill>
                  <a:srgbClr val="F6F4EF"/>
                </a:solidFill>
                <a:latin typeface="Arial"/>
              </a:rPr>
              <a:t>feasibility episodes.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9184"/>
            <a:ext cx="9966960" cy="274320"/>
          </a:xfrm>
          <a:prstGeom prst="rect">
            <a:avLst/>
          </a:prstGeom>
          <a:noFill/>
        </p:spPr>
        <p:txBody>
          <a:bodyPr wrap="square" lIns="0" rIns="0" tIns="0" bIns="0" anchor="ctr">
            <a:spAutoFit/>
          </a:bodyPr>
          <a:lstStyle/>
          <a:p>
            <a:pPr algn="l">
              <a:lnSpc>
                <a:spcPct val="110000"/>
              </a:lnSpc>
              <a:spcAft>
                <a:spcPts val="0"/>
              </a:spcAft>
            </a:pPr>
            <a:r>
              <a:rPr sz="1100" b="1">
                <a:solidFill>
                  <a:srgbClr val="77A9FF"/>
                </a:solidFill>
                <a:latin typeface="Arial"/>
              </a:rPr>
              <a:t>WHAT THE EVIDENCE MEANS</a:t>
            </a:r>
          </a:p>
        </p:txBody>
      </p:sp>
      <p:sp>
        <p:nvSpPr>
          <p:cNvPr id="4" name="TextBox 3"/>
          <p:cNvSpPr txBox="1"/>
          <p:nvPr/>
        </p:nvSpPr>
        <p:spPr>
          <a:xfrm>
            <a:off x="640080" y="740664"/>
            <a:ext cx="10927080" cy="841248"/>
          </a:xfrm>
          <a:prstGeom prst="rect">
            <a:avLst/>
          </a:prstGeom>
          <a:noFill/>
        </p:spPr>
        <p:txBody>
          <a:bodyPr wrap="square" lIns="0" rIns="0" tIns="0" bIns="0" anchor="t">
            <a:spAutoFit/>
          </a:bodyPr>
          <a:lstStyle/>
          <a:p>
            <a:pPr algn="l">
              <a:lnSpc>
                <a:spcPct val="110000"/>
              </a:lnSpc>
              <a:spcAft>
                <a:spcPts val="0"/>
              </a:spcAft>
            </a:pPr>
            <a:r>
              <a:rPr sz="3300" b="1">
                <a:solidFill>
                  <a:srgbClr val="F6F4EF"/>
                </a:solidFill>
                <a:latin typeface="Arial"/>
              </a:rPr>
              <a:t>A clear result, with clear limits</a:t>
            </a:r>
          </a:p>
        </p:txBody>
      </p:sp>
      <p:cxnSp>
        <p:nvCxnSpPr>
          <p:cNvPr id="5" name="Connector 4"/>
          <p:cNvCxnSpPr/>
          <p:nvPr/>
        </p:nvCxnSpPr>
        <p:spPr>
          <a:xfrm>
            <a:off x="640080" y="6473952"/>
            <a:ext cx="10908792" cy="0"/>
          </a:xfrm>
          <a:prstGeom prst="line">
            <a:avLst/>
          </a:prstGeom>
          <a:ln w="19050">
            <a:solidFill>
              <a:srgbClr val="34445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528816"/>
            <a:ext cx="10424160" cy="173736"/>
          </a:xfrm>
          <a:prstGeom prst="rect">
            <a:avLst/>
          </a:prstGeom>
          <a:noFill/>
        </p:spPr>
        <p:txBody>
          <a:bodyPr wrap="square" lIns="0" rIns="0" tIns="0" bIns="0" anchor="ctr">
            <a:spAutoFit/>
          </a:bodyPr>
          <a:lstStyle/>
          <a:p>
            <a:pPr algn="l">
              <a:lnSpc>
                <a:spcPct val="110000"/>
              </a:lnSpc>
              <a:spcAft>
                <a:spcPts val="0"/>
              </a:spcAft>
            </a:pPr>
            <a:r>
              <a:rPr sz="850" b="0">
                <a:solidFill>
                  <a:srgbClr val="A8B5C8"/>
                </a:solidFill>
                <a:latin typeface="Arial"/>
              </a:rPr>
              <a:t>Limitations: paper/final.md, Results and Discussion; README.md.</a:t>
            </a:r>
          </a:p>
        </p:txBody>
      </p:sp>
      <p:sp>
        <p:nvSpPr>
          <p:cNvPr id="7" name="TextBox 6"/>
          <p:cNvSpPr txBox="1"/>
          <p:nvPr/>
        </p:nvSpPr>
        <p:spPr>
          <a:xfrm>
            <a:off x="11064240" y="6501384"/>
            <a:ext cx="457200" cy="219456"/>
          </a:xfrm>
          <a:prstGeom prst="rect">
            <a:avLst/>
          </a:prstGeom>
          <a:noFill/>
        </p:spPr>
        <p:txBody>
          <a:bodyPr wrap="square" lIns="0" rIns="0" tIns="0" bIns="0" anchor="ctr">
            <a:spAutoFit/>
          </a:bodyPr>
          <a:lstStyle/>
          <a:p>
            <a:pPr algn="r">
              <a:lnSpc>
                <a:spcPct val="110000"/>
              </a:lnSpc>
              <a:spcAft>
                <a:spcPts val="0"/>
              </a:spcAft>
            </a:pPr>
            <a:r>
              <a:rPr sz="1000" b="0">
                <a:solidFill>
                  <a:srgbClr val="A8B5C8"/>
                </a:solidFill>
                <a:latin typeface="Arial"/>
              </a:rPr>
              <a:t>08</a:t>
            </a:r>
          </a:p>
        </p:txBody>
      </p:sp>
      <p:sp>
        <p:nvSpPr>
          <p:cNvPr id="8" name="Rounded Rectangle 7"/>
          <p:cNvSpPr/>
          <p:nvPr/>
        </p:nvSpPr>
        <p:spPr>
          <a:xfrm>
            <a:off x="713232" y="1865376"/>
            <a:ext cx="5340096" cy="3191256"/>
          </a:xfrm>
          <a:prstGeom prst="roundRect">
            <a:avLst>
              <a:gd name="adj" fmla="val 12000"/>
            </a:avLst>
          </a:prstGeom>
          <a:solidFill>
            <a:srgbClr val="173A39"/>
          </a:solidFill>
          <a:ln w="15240">
            <a:solidFill>
              <a:srgbClr val="2A7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2139696"/>
            <a:ext cx="4663440" cy="384048"/>
          </a:xfrm>
          <a:prstGeom prst="rect">
            <a:avLst/>
          </a:prstGeom>
          <a:noFill/>
        </p:spPr>
        <p:txBody>
          <a:bodyPr wrap="square" lIns="0" rIns="0" tIns="0" bIns="0" anchor="ctr">
            <a:spAutoFit/>
          </a:bodyPr>
          <a:lstStyle/>
          <a:p>
            <a:pPr algn="l">
              <a:lnSpc>
                <a:spcPct val="110000"/>
              </a:lnSpc>
              <a:spcAft>
                <a:spcPts val="0"/>
              </a:spcAft>
            </a:pPr>
            <a:r>
              <a:rPr sz="1500" b="1">
                <a:solidFill>
                  <a:srgbClr val="5DDFC4"/>
                </a:solidFill>
                <a:latin typeface="Arial"/>
              </a:rPr>
              <a:t>WE CAN SAY</a:t>
            </a:r>
          </a:p>
        </p:txBody>
      </p:sp>
      <p:sp>
        <p:nvSpPr>
          <p:cNvPr id="10" name="TextBox 9"/>
          <p:cNvSpPr txBox="1"/>
          <p:nvPr/>
        </p:nvSpPr>
        <p:spPr>
          <a:xfrm>
            <a:off x="987552" y="2743200"/>
            <a:ext cx="4626864" cy="1746504"/>
          </a:xfrm>
          <a:prstGeom prst="rect">
            <a:avLst/>
          </a:prstGeom>
          <a:noFill/>
        </p:spPr>
        <p:txBody>
          <a:bodyPr wrap="square" lIns="0" rIns="0" tIns="0" bIns="0" anchor="t">
            <a:spAutoFit/>
          </a:bodyPr>
          <a:lstStyle/>
          <a:p>
            <a:pPr algn="l">
              <a:lnSpc>
                <a:spcPct val="110000"/>
              </a:lnSpc>
              <a:spcAft>
                <a:spcPts val="0"/>
              </a:spcAft>
            </a:pPr>
            <a:r>
              <a:rPr sz="2400" b="1">
                <a:solidFill>
                  <a:srgbClr val="F6F4EF"/>
                </a:solidFill>
                <a:latin typeface="Arial"/>
              </a:rPr>
              <a:t>The checker and its own</a:t>
            </a:r>
          </a:p>
          <a:p>
            <a:pPr algn="l">
              <a:lnSpc>
                <a:spcPct val="110000"/>
              </a:lnSpc>
              <a:spcAft>
                <a:spcPts val="0"/>
              </a:spcAft>
            </a:pPr>
            <a:r>
              <a:rPr sz="2400" b="1">
                <a:solidFill>
                  <a:srgbClr val="F6F4EF"/>
                </a:solidFill>
                <a:latin typeface="Arial"/>
              </a:rPr>
              <a:t>implemented tests disagreed</a:t>
            </a:r>
          </a:p>
          <a:p>
            <a:pPr algn="l">
              <a:lnSpc>
                <a:spcPct val="110000"/>
              </a:lnSpc>
              <a:spcAft>
                <a:spcPts val="0"/>
              </a:spcAft>
            </a:pPr>
            <a:r>
              <a:rPr sz="2400" b="1">
                <a:solidFill>
                  <a:srgbClr val="F6F4EF"/>
                </a:solidFill>
                <a:latin typeface="Arial"/>
              </a:rPr>
              <a:t>in nine archived finals.</a:t>
            </a:r>
          </a:p>
        </p:txBody>
      </p:sp>
      <p:sp>
        <p:nvSpPr>
          <p:cNvPr id="11" name="Rounded Rectangle 10"/>
          <p:cNvSpPr/>
          <p:nvPr/>
        </p:nvSpPr>
        <p:spPr>
          <a:xfrm>
            <a:off x="6181344" y="1865376"/>
            <a:ext cx="5285232" cy="3191256"/>
          </a:xfrm>
          <a:prstGeom prst="roundRect">
            <a:avLst>
              <a:gd name="adj" fmla="val 12000"/>
            </a:avLst>
          </a:prstGeom>
          <a:solidFill>
            <a:srgbClr val="3A2C35"/>
          </a:solidFill>
          <a:ln w="15240">
            <a:solidFill>
              <a:srgbClr val="7958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2139696"/>
            <a:ext cx="4663440" cy="384048"/>
          </a:xfrm>
          <a:prstGeom prst="rect">
            <a:avLst/>
          </a:prstGeom>
          <a:noFill/>
        </p:spPr>
        <p:txBody>
          <a:bodyPr wrap="square" lIns="0" rIns="0" tIns="0" bIns="0" anchor="ctr">
            <a:spAutoFit/>
          </a:bodyPr>
          <a:lstStyle/>
          <a:p>
            <a:pPr algn="l">
              <a:lnSpc>
                <a:spcPct val="110000"/>
              </a:lnSpc>
              <a:spcAft>
                <a:spcPts val="0"/>
              </a:spcAft>
            </a:pPr>
            <a:r>
              <a:rPr sz="1500" b="1">
                <a:solidFill>
                  <a:srgbClr val="FF7773"/>
                </a:solidFill>
                <a:latin typeface="Arial"/>
              </a:rPr>
              <a:t>WE CANNOT YET SAY</a:t>
            </a:r>
          </a:p>
        </p:txBody>
      </p:sp>
      <p:sp>
        <p:nvSpPr>
          <p:cNvPr id="13" name="TextBox 12"/>
          <p:cNvSpPr txBox="1"/>
          <p:nvPr/>
        </p:nvSpPr>
        <p:spPr>
          <a:xfrm>
            <a:off x="6455664" y="2743200"/>
            <a:ext cx="4626864" cy="1746504"/>
          </a:xfrm>
          <a:prstGeom prst="rect">
            <a:avLst/>
          </a:prstGeom>
          <a:noFill/>
        </p:spPr>
        <p:txBody>
          <a:bodyPr wrap="square" lIns="0" rIns="0" tIns="0" bIns="0" anchor="t">
            <a:spAutoFit/>
          </a:bodyPr>
          <a:lstStyle/>
          <a:p>
            <a:pPr algn="l">
              <a:lnSpc>
                <a:spcPct val="110000"/>
              </a:lnSpc>
              <a:spcAft>
                <a:spcPts val="0"/>
              </a:spcAft>
            </a:pPr>
            <a:r>
              <a:rPr sz="2300" b="1">
                <a:solidFill>
                  <a:srgbClr val="F6F4EF"/>
                </a:solidFill>
                <a:latin typeface="Arial"/>
              </a:rPr>
              <a:t>The AI generally reacts badly</a:t>
            </a:r>
          </a:p>
          <a:p>
            <a:pPr algn="l">
              <a:lnSpc>
                <a:spcPct val="110000"/>
              </a:lnSpc>
              <a:spcAft>
                <a:spcPts val="0"/>
              </a:spcAft>
            </a:pPr>
            <a:r>
              <a:rPr sz="2300" b="1">
                <a:solidFill>
                  <a:srgbClr val="F6F4EF"/>
                </a:solidFill>
                <a:latin typeface="Arial"/>
              </a:rPr>
              <a:t>to wrong feedback—or that</a:t>
            </a:r>
          </a:p>
          <a:p>
            <a:pPr algn="l">
              <a:lnSpc>
                <a:spcPct val="110000"/>
              </a:lnSpc>
              <a:spcAft>
                <a:spcPts val="0"/>
              </a:spcAft>
            </a:pPr>
            <a:r>
              <a:rPr sz="2300" b="1">
                <a:solidFill>
                  <a:srgbClr val="F6F4EF"/>
                </a:solidFill>
                <a:latin typeface="Arial"/>
              </a:rPr>
              <a:t>those fixes were fully secure.</a:t>
            </a:r>
          </a:p>
        </p:txBody>
      </p:sp>
      <p:sp>
        <p:nvSpPr>
          <p:cNvPr id="14" name="Rounded Rectangle 13"/>
          <p:cNvSpPr/>
          <p:nvPr/>
        </p:nvSpPr>
        <p:spPr>
          <a:xfrm>
            <a:off x="731520" y="5449824"/>
            <a:ext cx="10725912" cy="475488"/>
          </a:xfrm>
          <a:prstGeom prst="roundRect">
            <a:avLst>
              <a:gd name="adj" fmla="val 12000"/>
            </a:avLst>
          </a:prstGeom>
          <a:solidFill>
            <a:srgbClr val="1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5468112"/>
            <a:ext cx="10543032" cy="438912"/>
          </a:xfrm>
          <a:prstGeom prst="rect">
            <a:avLst/>
          </a:prstGeom>
          <a:noFill/>
        </p:spPr>
        <p:txBody>
          <a:bodyPr wrap="square" lIns="0" rIns="0" tIns="0" bIns="0" anchor="ctr">
            <a:spAutoFit/>
          </a:bodyPr>
          <a:lstStyle/>
          <a:p>
            <a:pPr algn="ctr">
              <a:lnSpc>
                <a:spcPct val="110000"/>
              </a:lnSpc>
              <a:spcAft>
                <a:spcPts val="0"/>
              </a:spcAft>
            </a:pPr>
            <a:r>
              <a:rPr sz="1500" b="1">
                <a:solidFill>
                  <a:srgbClr val="FFC96E"/>
                </a:solidFill>
                <a:latin typeface="Arial"/>
              </a:rPr>
              <a:t>Old intermediate logs: 0 of 81 action receipts stored raw test results.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9184"/>
            <a:ext cx="9966960" cy="274320"/>
          </a:xfrm>
          <a:prstGeom prst="rect">
            <a:avLst/>
          </a:prstGeom>
          <a:noFill/>
        </p:spPr>
        <p:txBody>
          <a:bodyPr wrap="square" lIns="0" rIns="0" tIns="0" bIns="0" anchor="ctr">
            <a:spAutoFit/>
          </a:bodyPr>
          <a:lstStyle/>
          <a:p>
            <a:pPr algn="l">
              <a:lnSpc>
                <a:spcPct val="110000"/>
              </a:lnSpc>
              <a:spcAft>
                <a:spcPts val="0"/>
              </a:spcAft>
            </a:pPr>
            <a:r>
              <a:rPr sz="1100" b="1">
                <a:solidFill>
                  <a:srgbClr val="77A9FF"/>
                </a:solidFill>
                <a:latin typeface="Arial"/>
              </a:rPr>
              <a:t>THE NEXT EXPERIMENT</a:t>
            </a:r>
          </a:p>
        </p:txBody>
      </p:sp>
      <p:sp>
        <p:nvSpPr>
          <p:cNvPr id="4" name="TextBox 3"/>
          <p:cNvSpPr txBox="1"/>
          <p:nvPr/>
        </p:nvSpPr>
        <p:spPr>
          <a:xfrm>
            <a:off x="640080" y="740664"/>
            <a:ext cx="10927080" cy="841248"/>
          </a:xfrm>
          <a:prstGeom prst="rect">
            <a:avLst/>
          </a:prstGeom>
          <a:noFill/>
        </p:spPr>
        <p:txBody>
          <a:bodyPr wrap="square" lIns="0" rIns="0" tIns="0" bIns="0" anchor="t">
            <a:spAutoFit/>
          </a:bodyPr>
          <a:lstStyle/>
          <a:p>
            <a:pPr algn="l">
              <a:lnSpc>
                <a:spcPct val="110000"/>
              </a:lnSpc>
              <a:spcAft>
                <a:spcPts val="0"/>
              </a:spcAft>
            </a:pPr>
            <a:r>
              <a:rPr sz="3300" b="1">
                <a:solidFill>
                  <a:srgbClr val="F6F4EF"/>
                </a:solidFill>
                <a:latin typeface="Arial"/>
              </a:rPr>
              <a:t>Same code. Two different verdicts.</a:t>
            </a:r>
          </a:p>
        </p:txBody>
      </p:sp>
      <p:cxnSp>
        <p:nvCxnSpPr>
          <p:cNvPr id="5" name="Connector 4"/>
          <p:cNvCxnSpPr/>
          <p:nvPr/>
        </p:nvCxnSpPr>
        <p:spPr>
          <a:xfrm>
            <a:off x="640080" y="6473952"/>
            <a:ext cx="10908792" cy="0"/>
          </a:xfrm>
          <a:prstGeom prst="line">
            <a:avLst/>
          </a:prstGeom>
          <a:ln w="19050">
            <a:solidFill>
              <a:srgbClr val="34445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528816"/>
            <a:ext cx="10424160" cy="173736"/>
          </a:xfrm>
          <a:prstGeom prst="rect">
            <a:avLst/>
          </a:prstGeom>
          <a:noFill/>
        </p:spPr>
        <p:txBody>
          <a:bodyPr wrap="square" lIns="0" rIns="0" tIns="0" bIns="0" anchor="ctr">
            <a:spAutoFit/>
          </a:bodyPr>
          <a:lstStyle/>
          <a:p>
            <a:pPr algn="l">
              <a:lnSpc>
                <a:spcPct val="110000"/>
              </a:lnSpc>
              <a:spcAft>
                <a:spcPts val="0"/>
              </a:spcAft>
            </a:pPr>
            <a:r>
              <a:rPr sz="850" b="0">
                <a:solidFill>
                  <a:srgbClr val="A8B5C8"/>
                </a:solidFill>
                <a:latin typeface="Arial"/>
              </a:rPr>
              <a:t>Planned design only: docs/INTEGRATED_STUDY_EXTENSION_20261018.md.</a:t>
            </a:r>
          </a:p>
        </p:txBody>
      </p:sp>
      <p:sp>
        <p:nvSpPr>
          <p:cNvPr id="7" name="TextBox 6"/>
          <p:cNvSpPr txBox="1"/>
          <p:nvPr/>
        </p:nvSpPr>
        <p:spPr>
          <a:xfrm>
            <a:off x="11064240" y="6501384"/>
            <a:ext cx="457200" cy="219456"/>
          </a:xfrm>
          <a:prstGeom prst="rect">
            <a:avLst/>
          </a:prstGeom>
          <a:noFill/>
        </p:spPr>
        <p:txBody>
          <a:bodyPr wrap="square" lIns="0" rIns="0" tIns="0" bIns="0" anchor="ctr">
            <a:spAutoFit/>
          </a:bodyPr>
          <a:lstStyle/>
          <a:p>
            <a:pPr algn="r">
              <a:lnSpc>
                <a:spcPct val="110000"/>
              </a:lnSpc>
              <a:spcAft>
                <a:spcPts val="0"/>
              </a:spcAft>
            </a:pPr>
            <a:r>
              <a:rPr sz="1000" b="0">
                <a:solidFill>
                  <a:srgbClr val="A8B5C8"/>
                </a:solidFill>
                <a:latin typeface="Arial"/>
              </a:rPr>
              <a:t>09</a:t>
            </a:r>
          </a:p>
        </p:txBody>
      </p:sp>
      <p:sp>
        <p:nvSpPr>
          <p:cNvPr id="8" name="Rounded Rectangle 7"/>
          <p:cNvSpPr/>
          <p:nvPr/>
        </p:nvSpPr>
        <p:spPr>
          <a:xfrm>
            <a:off x="3794760" y="1783080"/>
            <a:ext cx="4608576" cy="950976"/>
          </a:xfrm>
          <a:prstGeom prst="roundRect">
            <a:avLst>
              <a:gd name="adj" fmla="val 12000"/>
            </a:avLst>
          </a:prstGeom>
          <a:solidFill>
            <a:srgbClr val="1D2B45"/>
          </a:solidFill>
          <a:ln w="15240">
            <a:solidFill>
              <a:srgbClr val="344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14215" y="1993392"/>
            <a:ext cx="4160520" cy="475488"/>
          </a:xfrm>
          <a:prstGeom prst="rect">
            <a:avLst/>
          </a:prstGeom>
          <a:noFill/>
        </p:spPr>
        <p:txBody>
          <a:bodyPr wrap="square" lIns="0" rIns="0" tIns="0" bIns="0" anchor="ctr">
            <a:spAutoFit/>
          </a:bodyPr>
          <a:lstStyle/>
          <a:p>
            <a:pPr algn="ctr">
              <a:lnSpc>
                <a:spcPct val="110000"/>
              </a:lnSpc>
              <a:spcAft>
                <a:spcPts val="0"/>
              </a:spcAft>
            </a:pPr>
            <a:r>
              <a:rPr sz="1950" b="1">
                <a:solidFill>
                  <a:srgbClr val="F6F4EF"/>
                </a:solidFill>
                <a:latin typeface="Arial"/>
              </a:rPr>
              <a:t>One independently checked candidate</a:t>
            </a:r>
          </a:p>
        </p:txBody>
      </p:sp>
      <p:cxnSp>
        <p:nvCxnSpPr>
          <p:cNvPr id="10" name="Connector 9"/>
          <p:cNvCxnSpPr/>
          <p:nvPr/>
        </p:nvCxnSpPr>
        <p:spPr>
          <a:xfrm>
            <a:off x="6099048" y="2734056"/>
            <a:ext cx="0" cy="411480"/>
          </a:xfrm>
          <a:prstGeom prst="line">
            <a:avLst/>
          </a:prstGeom>
          <a:ln w="25400">
            <a:solidFill>
              <a:srgbClr val="77A9F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383280" y="3145536"/>
            <a:ext cx="5422392" cy="0"/>
          </a:xfrm>
          <a:prstGeom prst="line">
            <a:avLst/>
          </a:prstGeom>
          <a:ln w="25400">
            <a:solidFill>
              <a:srgbClr val="77A9F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383280" y="3145536"/>
            <a:ext cx="0" cy="301752"/>
          </a:xfrm>
          <a:prstGeom prst="line">
            <a:avLst/>
          </a:prstGeom>
          <a:ln w="25400">
            <a:solidFill>
              <a:srgbClr val="77A9F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805672" y="3145536"/>
            <a:ext cx="0" cy="301752"/>
          </a:xfrm>
          <a:prstGeom prst="line">
            <a:avLst/>
          </a:prstGeom>
          <a:ln w="25400">
            <a:solidFill>
              <a:srgbClr val="77A9FF"/>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097280" y="3447288"/>
            <a:ext cx="4608576" cy="1188720"/>
          </a:xfrm>
          <a:prstGeom prst="roundRect">
            <a:avLst>
              <a:gd name="adj" fmla="val 12000"/>
            </a:avLst>
          </a:prstGeom>
          <a:solidFill>
            <a:srgbClr val="173D3B"/>
          </a:solidFill>
          <a:ln w="15240">
            <a:solidFill>
              <a:srgbClr val="2A7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80744" y="3758184"/>
            <a:ext cx="4023360" cy="539496"/>
          </a:xfrm>
          <a:prstGeom prst="rect">
            <a:avLst/>
          </a:prstGeom>
          <a:noFill/>
        </p:spPr>
        <p:txBody>
          <a:bodyPr wrap="square" lIns="0" rIns="0" tIns="0" bIns="0" anchor="ctr">
            <a:spAutoFit/>
          </a:bodyPr>
          <a:lstStyle/>
          <a:p>
            <a:pPr algn="ctr">
              <a:lnSpc>
                <a:spcPct val="110000"/>
              </a:lnSpc>
              <a:spcAft>
                <a:spcPts val="0"/>
              </a:spcAft>
            </a:pPr>
            <a:r>
              <a:rPr sz="2300" b="1">
                <a:solidFill>
                  <a:srgbClr val="5DDFC4"/>
                </a:solidFill>
                <a:latin typeface="Arial"/>
              </a:rPr>
              <a:t>A  ·  truthful PASS</a:t>
            </a:r>
          </a:p>
        </p:txBody>
      </p:sp>
      <p:sp>
        <p:nvSpPr>
          <p:cNvPr id="16" name="Rounded Rectangle 15"/>
          <p:cNvSpPr/>
          <p:nvPr/>
        </p:nvSpPr>
        <p:spPr>
          <a:xfrm>
            <a:off x="6473952" y="3447288"/>
            <a:ext cx="4608576" cy="1188720"/>
          </a:xfrm>
          <a:prstGeom prst="roundRect">
            <a:avLst>
              <a:gd name="adj" fmla="val 12000"/>
            </a:avLst>
          </a:prstGeom>
          <a:solidFill>
            <a:srgbClr val="3C2836"/>
          </a:solidFill>
          <a:ln w="15240">
            <a:solidFill>
              <a:srgbClr val="7550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6560" y="3758184"/>
            <a:ext cx="4023360" cy="539496"/>
          </a:xfrm>
          <a:prstGeom prst="rect">
            <a:avLst/>
          </a:prstGeom>
          <a:noFill/>
        </p:spPr>
        <p:txBody>
          <a:bodyPr wrap="square" lIns="0" rIns="0" tIns="0" bIns="0" anchor="ctr">
            <a:spAutoFit/>
          </a:bodyPr>
          <a:lstStyle/>
          <a:p>
            <a:pPr algn="ctr">
              <a:lnSpc>
                <a:spcPct val="110000"/>
              </a:lnSpc>
              <a:spcAft>
                <a:spcPts val="0"/>
              </a:spcAft>
            </a:pPr>
            <a:r>
              <a:rPr sz="2300" b="1">
                <a:solidFill>
                  <a:srgbClr val="FF7773"/>
                </a:solidFill>
                <a:latin typeface="Arial"/>
              </a:rPr>
              <a:t>B  ·  false FAIL</a:t>
            </a:r>
          </a:p>
        </p:txBody>
      </p:sp>
      <p:sp>
        <p:nvSpPr>
          <p:cNvPr id="18" name="TextBox 17"/>
          <p:cNvSpPr txBox="1"/>
          <p:nvPr/>
        </p:nvSpPr>
        <p:spPr>
          <a:xfrm>
            <a:off x="932688" y="5157216"/>
            <a:ext cx="10305288" cy="502920"/>
          </a:xfrm>
          <a:prstGeom prst="rect">
            <a:avLst/>
          </a:prstGeom>
          <a:noFill/>
        </p:spPr>
        <p:txBody>
          <a:bodyPr wrap="square" lIns="0" rIns="0" tIns="0" bIns="0" anchor="ctr">
            <a:spAutoFit/>
          </a:bodyPr>
          <a:lstStyle/>
          <a:p>
            <a:pPr algn="ctr">
              <a:lnSpc>
                <a:spcPct val="110000"/>
              </a:lnSpc>
              <a:spcAft>
                <a:spcPts val="0"/>
              </a:spcAft>
            </a:pPr>
            <a:r>
              <a:rPr sz="2000" b="1">
                <a:solidFill>
                  <a:srgbClr val="F6F4EF"/>
                </a:solidFill>
                <a:latin typeface="Arial"/>
              </a:rPr>
              <a:t>Compare the later code and whether it keeps the verified finite property.</a:t>
            </a:r>
          </a:p>
        </p:txBody>
      </p:sp>
      <p:sp>
        <p:nvSpPr>
          <p:cNvPr id="19" name="Rounded Rectangle 18"/>
          <p:cNvSpPr/>
          <p:nvPr/>
        </p:nvSpPr>
        <p:spPr>
          <a:xfrm>
            <a:off x="3419856" y="5751576"/>
            <a:ext cx="5340096" cy="384048"/>
          </a:xfrm>
          <a:prstGeom prst="roundRect">
            <a:avLst>
              <a:gd name="adj" fmla="val 12000"/>
            </a:avLst>
          </a:prstGeom>
          <a:solidFill>
            <a:srgbClr val="1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11296" y="5769864"/>
            <a:ext cx="5157216" cy="347472"/>
          </a:xfrm>
          <a:prstGeom prst="rect">
            <a:avLst/>
          </a:prstGeom>
          <a:noFill/>
        </p:spPr>
        <p:txBody>
          <a:bodyPr wrap="square" lIns="0" rIns="0" tIns="0" bIns="0" anchor="ctr">
            <a:spAutoFit/>
          </a:bodyPr>
          <a:lstStyle/>
          <a:p>
            <a:pPr algn="ctr">
              <a:lnSpc>
                <a:spcPct val="110000"/>
              </a:lnSpc>
              <a:spcAft>
                <a:spcPts val="0"/>
              </a:spcAft>
            </a:pPr>
            <a:r>
              <a:rPr sz="1200" b="1">
                <a:solidFill>
                  <a:srgbClr val="77A9FF"/>
                </a:solidFill>
                <a:latin typeface="Arial"/>
              </a:rPr>
              <a:t>PLANNED  ·  NO ELIGIBLE MAIN RESULTS YET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7512" y="493776"/>
            <a:ext cx="8229600" cy="320040"/>
          </a:xfrm>
          <a:prstGeom prst="rect">
            <a:avLst/>
          </a:prstGeom>
          <a:noFill/>
        </p:spPr>
        <p:txBody>
          <a:bodyPr wrap="square" lIns="0" rIns="0" tIns="0" bIns="0" anchor="ctr">
            <a:spAutoFit/>
          </a:bodyPr>
          <a:lstStyle/>
          <a:p>
            <a:pPr algn="l">
              <a:lnSpc>
                <a:spcPct val="110000"/>
              </a:lnSpc>
              <a:spcAft>
                <a:spcPts val="0"/>
              </a:spcAft>
            </a:pPr>
            <a:r>
              <a:rPr sz="1200" b="1">
                <a:solidFill>
                  <a:srgbClr val="77A9FF"/>
                </a:solidFill>
                <a:latin typeface="Arial"/>
              </a:rPr>
              <a:t>THE TAKEAWAY</a:t>
            </a:r>
          </a:p>
        </p:txBody>
      </p:sp>
      <p:sp>
        <p:nvSpPr>
          <p:cNvPr id="4" name="TextBox 3"/>
          <p:cNvSpPr txBox="1"/>
          <p:nvPr/>
        </p:nvSpPr>
        <p:spPr>
          <a:xfrm>
            <a:off x="667512" y="1161288"/>
            <a:ext cx="10625328" cy="1618488"/>
          </a:xfrm>
          <a:prstGeom prst="rect">
            <a:avLst/>
          </a:prstGeom>
          <a:noFill/>
        </p:spPr>
        <p:txBody>
          <a:bodyPr wrap="square" lIns="0" rIns="0" tIns="0" bIns="0" anchor="t">
            <a:spAutoFit/>
          </a:bodyPr>
          <a:lstStyle/>
          <a:p>
            <a:pPr algn="l">
              <a:lnSpc>
                <a:spcPct val="103000"/>
              </a:lnSpc>
              <a:spcAft>
                <a:spcPts val="0"/>
              </a:spcAft>
            </a:pPr>
            <a:r>
              <a:rPr sz="4800" b="1">
                <a:solidFill>
                  <a:srgbClr val="F6F4EF"/>
                </a:solidFill>
                <a:latin typeface="Arial"/>
              </a:rPr>
              <a:t>Before judging the AI,</a:t>
            </a:r>
          </a:p>
          <a:p>
            <a:pPr algn="l">
              <a:lnSpc>
                <a:spcPct val="103000"/>
              </a:lnSpc>
              <a:spcAft>
                <a:spcPts val="0"/>
              </a:spcAft>
            </a:pPr>
            <a:r>
              <a:rPr sz="4800" b="1">
                <a:solidFill>
                  <a:srgbClr val="F6F4EF"/>
                </a:solidFill>
                <a:latin typeface="Arial"/>
              </a:rPr>
              <a:t>check the judge.</a:t>
            </a:r>
          </a:p>
        </p:txBody>
      </p:sp>
      <p:sp>
        <p:nvSpPr>
          <p:cNvPr id="5" name="Rounded Rectangle 4"/>
          <p:cNvSpPr/>
          <p:nvPr/>
        </p:nvSpPr>
        <p:spPr>
          <a:xfrm>
            <a:off x="704088" y="3419856"/>
            <a:ext cx="10771632" cy="1271016"/>
          </a:xfrm>
          <a:prstGeom prst="roundRect">
            <a:avLst>
              <a:gd name="adj" fmla="val 12000"/>
            </a:avLst>
          </a:prstGeom>
          <a:solidFill>
            <a:srgbClr val="17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3657600"/>
            <a:ext cx="1874519" cy="274320"/>
          </a:xfrm>
          <a:prstGeom prst="rect">
            <a:avLst/>
          </a:prstGeom>
          <a:noFill/>
        </p:spPr>
        <p:txBody>
          <a:bodyPr wrap="square" lIns="0" rIns="0" tIns="0" bIns="0" anchor="ctr">
            <a:spAutoFit/>
          </a:bodyPr>
          <a:lstStyle/>
          <a:p>
            <a:pPr algn="l">
              <a:lnSpc>
                <a:spcPct val="110000"/>
              </a:lnSpc>
              <a:spcAft>
                <a:spcPts val="0"/>
              </a:spcAft>
            </a:pPr>
            <a:r>
              <a:rPr sz="1200" b="1">
                <a:solidFill>
                  <a:srgbClr val="5DDFC4"/>
                </a:solidFill>
                <a:latin typeface="Arial"/>
              </a:rPr>
              <a:t>COMPLETED</a:t>
            </a:r>
          </a:p>
        </p:txBody>
      </p:sp>
      <p:sp>
        <p:nvSpPr>
          <p:cNvPr id="7" name="TextBox 6"/>
          <p:cNvSpPr txBox="1"/>
          <p:nvPr/>
        </p:nvSpPr>
        <p:spPr>
          <a:xfrm>
            <a:off x="969264" y="4005072"/>
            <a:ext cx="2578608" cy="384048"/>
          </a:xfrm>
          <a:prstGeom prst="rect">
            <a:avLst/>
          </a:prstGeom>
          <a:noFill/>
        </p:spPr>
        <p:txBody>
          <a:bodyPr wrap="square" lIns="0" rIns="0" tIns="0" bIns="0" anchor="ctr">
            <a:spAutoFit/>
          </a:bodyPr>
          <a:lstStyle/>
          <a:p>
            <a:pPr algn="l">
              <a:lnSpc>
                <a:spcPct val="110000"/>
              </a:lnSpc>
              <a:spcAft>
                <a:spcPts val="0"/>
              </a:spcAft>
            </a:pPr>
            <a:r>
              <a:rPr sz="2000" b="1">
                <a:solidFill>
                  <a:srgbClr val="F6F4EF"/>
                </a:solidFill>
                <a:latin typeface="Arial"/>
              </a:rPr>
              <a:t>historical audit</a:t>
            </a:r>
          </a:p>
        </p:txBody>
      </p:sp>
      <p:sp>
        <p:nvSpPr>
          <p:cNvPr id="8" name="TextBox 7"/>
          <p:cNvSpPr txBox="1"/>
          <p:nvPr/>
        </p:nvSpPr>
        <p:spPr>
          <a:xfrm>
            <a:off x="4206240" y="3657600"/>
            <a:ext cx="1051560" cy="274320"/>
          </a:xfrm>
          <a:prstGeom prst="rect">
            <a:avLst/>
          </a:prstGeom>
          <a:noFill/>
        </p:spPr>
        <p:txBody>
          <a:bodyPr wrap="square" lIns="0" rIns="0" tIns="0" bIns="0" anchor="ctr">
            <a:spAutoFit/>
          </a:bodyPr>
          <a:lstStyle/>
          <a:p>
            <a:pPr algn="l">
              <a:lnSpc>
                <a:spcPct val="110000"/>
              </a:lnSpc>
              <a:spcAft>
                <a:spcPts val="0"/>
              </a:spcAft>
            </a:pPr>
            <a:r>
              <a:rPr sz="1200" b="1">
                <a:solidFill>
                  <a:srgbClr val="FFC96E"/>
                </a:solidFill>
                <a:latin typeface="Arial"/>
              </a:rPr>
              <a:t>NEXT</a:t>
            </a:r>
          </a:p>
        </p:txBody>
      </p:sp>
      <p:sp>
        <p:nvSpPr>
          <p:cNvPr id="9" name="TextBox 8"/>
          <p:cNvSpPr txBox="1"/>
          <p:nvPr/>
        </p:nvSpPr>
        <p:spPr>
          <a:xfrm>
            <a:off x="4206240" y="4005072"/>
            <a:ext cx="2752344" cy="384048"/>
          </a:xfrm>
          <a:prstGeom prst="rect">
            <a:avLst/>
          </a:prstGeom>
          <a:noFill/>
        </p:spPr>
        <p:txBody>
          <a:bodyPr wrap="square" lIns="0" rIns="0" tIns="0" bIns="0" anchor="ctr">
            <a:spAutoFit/>
          </a:bodyPr>
          <a:lstStyle/>
          <a:p>
            <a:pPr algn="l">
              <a:lnSpc>
                <a:spcPct val="110000"/>
              </a:lnSpc>
              <a:spcAft>
                <a:spcPts val="0"/>
              </a:spcAft>
            </a:pPr>
            <a:r>
              <a:rPr sz="2000" b="1">
                <a:solidFill>
                  <a:srgbClr val="F6F4EF"/>
                </a:solidFill>
                <a:latin typeface="Arial"/>
              </a:rPr>
              <a:t>independent review</a:t>
            </a:r>
          </a:p>
        </p:txBody>
      </p:sp>
      <p:sp>
        <p:nvSpPr>
          <p:cNvPr id="10" name="TextBox 9"/>
          <p:cNvSpPr txBox="1"/>
          <p:nvPr/>
        </p:nvSpPr>
        <p:spPr>
          <a:xfrm>
            <a:off x="8046720" y="3657600"/>
            <a:ext cx="1938528" cy="274320"/>
          </a:xfrm>
          <a:prstGeom prst="rect">
            <a:avLst/>
          </a:prstGeom>
          <a:noFill/>
        </p:spPr>
        <p:txBody>
          <a:bodyPr wrap="square" lIns="0" rIns="0" tIns="0" bIns="0" anchor="ctr">
            <a:spAutoFit/>
          </a:bodyPr>
          <a:lstStyle/>
          <a:p>
            <a:pPr algn="l">
              <a:lnSpc>
                <a:spcPct val="110000"/>
              </a:lnSpc>
              <a:spcAft>
                <a:spcPts val="0"/>
              </a:spcAft>
            </a:pPr>
            <a:r>
              <a:rPr sz="1200" b="1">
                <a:solidFill>
                  <a:srgbClr val="FF7773"/>
                </a:solidFill>
                <a:latin typeface="Arial"/>
              </a:rPr>
              <a:t>MAIN STUDY</a:t>
            </a:r>
          </a:p>
        </p:txBody>
      </p:sp>
      <p:sp>
        <p:nvSpPr>
          <p:cNvPr id="11" name="TextBox 10"/>
          <p:cNvSpPr txBox="1"/>
          <p:nvPr/>
        </p:nvSpPr>
        <p:spPr>
          <a:xfrm>
            <a:off x="8055864" y="4005072"/>
            <a:ext cx="2944368" cy="384048"/>
          </a:xfrm>
          <a:prstGeom prst="rect">
            <a:avLst/>
          </a:prstGeom>
          <a:noFill/>
        </p:spPr>
        <p:txBody>
          <a:bodyPr wrap="square" lIns="0" rIns="0" tIns="0" bIns="0" anchor="ctr">
            <a:spAutoFit/>
          </a:bodyPr>
          <a:lstStyle/>
          <a:p>
            <a:pPr algn="l">
              <a:lnSpc>
                <a:spcPct val="110000"/>
              </a:lnSpc>
              <a:spcAft>
                <a:spcPts val="0"/>
              </a:spcAft>
            </a:pPr>
            <a:r>
              <a:rPr sz="2000" b="1">
                <a:solidFill>
                  <a:srgbClr val="F6F4EF"/>
                </a:solidFill>
                <a:latin typeface="Arial"/>
              </a:rPr>
              <a:t>0 / 12 gates passed</a:t>
            </a:r>
          </a:p>
        </p:txBody>
      </p:sp>
      <p:sp>
        <p:nvSpPr>
          <p:cNvPr id="12" name="TextBox 11"/>
          <p:cNvSpPr txBox="1"/>
          <p:nvPr/>
        </p:nvSpPr>
        <p:spPr>
          <a:xfrm>
            <a:off x="8065008" y="4416552"/>
            <a:ext cx="2852928" cy="182880"/>
          </a:xfrm>
          <a:prstGeom prst="rect">
            <a:avLst/>
          </a:prstGeom>
          <a:noFill/>
        </p:spPr>
        <p:txBody>
          <a:bodyPr wrap="square" lIns="0" rIns="0" tIns="0" bIns="0" anchor="ctr">
            <a:spAutoFit/>
          </a:bodyPr>
          <a:lstStyle/>
          <a:p>
            <a:pPr algn="l">
              <a:lnSpc>
                <a:spcPct val="110000"/>
              </a:lnSpc>
              <a:spcAft>
                <a:spcPts val="0"/>
              </a:spcAft>
            </a:pPr>
            <a:r>
              <a:rPr sz="1000" b="0">
                <a:solidFill>
                  <a:srgbClr val="A8B5C8"/>
                </a:solidFill>
                <a:latin typeface="Arial"/>
              </a:rPr>
              <a:t>as of 1 Nov 2026</a:t>
            </a:r>
          </a:p>
        </p:txBody>
      </p:sp>
      <p:sp>
        <p:nvSpPr>
          <p:cNvPr id="13" name="TextBox 12"/>
          <p:cNvSpPr txBox="1"/>
          <p:nvPr/>
        </p:nvSpPr>
        <p:spPr>
          <a:xfrm>
            <a:off x="667512" y="5120640"/>
            <a:ext cx="10881360" cy="539496"/>
          </a:xfrm>
          <a:prstGeom prst="rect">
            <a:avLst/>
          </a:prstGeom>
          <a:noFill/>
        </p:spPr>
        <p:txBody>
          <a:bodyPr wrap="square" lIns="0" rIns="0" tIns="0" bIns="0" anchor="ctr">
            <a:spAutoFit/>
          </a:bodyPr>
          <a:lstStyle/>
          <a:p>
            <a:pPr algn="l">
              <a:lnSpc>
                <a:spcPct val="110000"/>
              </a:lnSpc>
              <a:spcAft>
                <a:spcPts val="0"/>
              </a:spcAft>
            </a:pPr>
            <a:r>
              <a:rPr sz="2100" b="0">
                <a:solidFill>
                  <a:srgbClr val="A8B5C8"/>
                </a:solidFill>
                <a:latin typeface="Arial"/>
              </a:rPr>
              <a:t>Would you trust an AI score if the grader disagreed with its own tests?</a:t>
            </a:r>
          </a:p>
        </p:txBody>
      </p:sp>
      <p:sp>
        <p:nvSpPr>
          <p:cNvPr id="14" name="TextBox 13"/>
          <p:cNvSpPr txBox="1"/>
          <p:nvPr/>
        </p:nvSpPr>
        <p:spPr>
          <a:xfrm>
            <a:off x="676656" y="6080760"/>
            <a:ext cx="7360920" cy="320040"/>
          </a:xfrm>
          <a:prstGeom prst="rect">
            <a:avLst/>
          </a:prstGeom>
          <a:noFill/>
        </p:spPr>
        <p:txBody>
          <a:bodyPr wrap="square" lIns="0" rIns="0" tIns="0" bIns="0" anchor="ctr">
            <a:spAutoFit/>
          </a:bodyPr>
          <a:lstStyle/>
          <a:p>
            <a:pPr algn="l">
              <a:lnSpc>
                <a:spcPct val="110000"/>
              </a:lnSpc>
              <a:spcAft>
                <a:spcPts val="0"/>
              </a:spcAft>
            </a:pPr>
            <a:r>
              <a:rPr sz="1600" b="1">
                <a:solidFill>
                  <a:srgbClr val="77A9FF"/>
                </a:solidFill>
                <a:latin typeface="Arial"/>
              </a:rPr>
              <a:t>github.com/Imranqsl212/AiResearch</a:t>
            </a:r>
          </a:p>
        </p:txBody>
      </p:sp>
      <p:cxnSp>
        <p:nvCxnSpPr>
          <p:cNvPr id="15" name="Connector 14"/>
          <p:cNvCxnSpPr/>
          <p:nvPr/>
        </p:nvCxnSpPr>
        <p:spPr>
          <a:xfrm>
            <a:off x="667512" y="6519672"/>
            <a:ext cx="10872216" cy="0"/>
          </a:xfrm>
          <a:prstGeom prst="line">
            <a:avLst/>
          </a:prstGeom>
          <a:ln w="19050">
            <a:solidFill>
              <a:srgbClr val="34445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76656" y="6565392"/>
            <a:ext cx="10515600" cy="164592"/>
          </a:xfrm>
          <a:prstGeom prst="rect">
            <a:avLst/>
          </a:prstGeom>
          <a:noFill/>
        </p:spPr>
        <p:txBody>
          <a:bodyPr wrap="square" lIns="0" rIns="0" tIns="0" bIns="0" anchor="ctr">
            <a:spAutoFit/>
          </a:bodyPr>
          <a:lstStyle/>
          <a:p>
            <a:pPr algn="l">
              <a:lnSpc>
                <a:spcPct val="110000"/>
              </a:lnSpc>
              <a:spcAft>
                <a:spcPts val="0"/>
              </a:spcAft>
            </a:pPr>
            <a:r>
              <a:rPr sz="850" b="0">
                <a:solidFill>
                  <a:srgbClr val="A8B5C8"/>
                </a:solidFill>
                <a:latin typeface="Arial"/>
              </a:rPr>
              <a:t>Sources: README.md · paper/final.md · docs/MEASUREMENT_FOLLOWUP_20261030.md</a:t>
            </a:r>
          </a:p>
        </p:txBody>
      </p:sp>
      <p:sp>
        <p:nvSpPr>
          <p:cNvPr id="17" name="TextBox 16"/>
          <p:cNvSpPr txBox="1"/>
          <p:nvPr/>
        </p:nvSpPr>
        <p:spPr>
          <a:xfrm>
            <a:off x="11064240" y="6556248"/>
            <a:ext cx="457200" cy="182880"/>
          </a:xfrm>
          <a:prstGeom prst="rect">
            <a:avLst/>
          </a:prstGeom>
          <a:noFill/>
        </p:spPr>
        <p:txBody>
          <a:bodyPr wrap="square" lIns="0" rIns="0" tIns="0" bIns="0" anchor="ctr">
            <a:spAutoFit/>
          </a:bodyPr>
          <a:lstStyle/>
          <a:p>
            <a:pPr algn="r">
              <a:lnSpc>
                <a:spcPct val="110000"/>
              </a:lnSpc>
              <a:spcAft>
                <a:spcPts val="0"/>
              </a:spcAft>
            </a:pPr>
            <a:r>
              <a:rPr sz="1000" b="0">
                <a:solidFill>
                  <a:srgbClr val="A8B5C8"/>
                </a:solidFill>
                <a:latin typeface="Arial"/>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Tests Passed. The Benchmark Said No.</dc:title>
  <dc:subject>Research progress on AI security-repair evaluation</dc:subject>
  <dc:creator>Imran Zakirov</dc:creator>
  <cp:keywords>AI coding agent, security repair, benchmark validity</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