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watched a local AI system try to fix small security-related mistakes in Python code. In part of our historical study, its final code passed the tests we had written, yet our checker gave a final FAIL. This is about our research checker, not a malicious AI. Passing our tests does not prove complete safety. Source: README.md; paper/final.md.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AI coder is a model that writes a code change, sees the checker's message, and may revise within one session. We are not training the model during these runs. The checker is software written for our study. Source: paper/final.md, Methods.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Imagine that a teacher's written checklist marks every listed item correct, but the teacher still gives FAIL because of an extra rule. Our checker had that kind of extra rule. The analogy has a limit: a checklist can miss important problems, so passing listed tests does not prove the work perfect or the code fully secure.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reviewed 40 archived runs by one local model across five selected kinds of small security tasks. Twenty runs were labeled 'unavailable' in our experiment. In nine of those twenty, the final code passed our checker's own written tests but the final decision was FAIL. The dots show those twenty final submissions; nine colored dots are the disagreements. These are selected runs, not an error rate for all AI tools. Source: paper/final.md, Results; docs/MEASUREMENT_FOLLOWUP_20261030.md.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research checker accepted a result only when our written tests passed AND an extra condition allowed acceptance. Our team added that condition to simulate tasks labeled unavailable. It forced a final FAIL for that group even when its written tests passed. The AI did not see this rule. This shows that the group was not an independently proven impossible repair task. Source: paper/final.md, Results; docs/PROJECT_OVERVIEW_20261029.md.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FAIL alone could make it look as if the AI could not solve the task or did not know when to stop. But the checker and its own tests disagreed. We cannot infer a general AI stopping problem from that score. Also, none of the 81 old intermediate check records saved the raw underlying test result, so we cannot prove that a particular revision followed a known passing test. Passing the small written tests does not prove general security.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independently replayed the archived records and checked the 40-run result. We created twenty types of small security tasks; independent human review is still pending. We also completed a separate thirty-run practice study using a revised bounded checker; those runs are not part of the original forty or the future main study. The code and reproducible analyses are public. Source: README.md; docs/MEASUREMENT_FOLLOWUP_20261030.md; docs/V7_DECISIVE_EXCLUDED_PILOT_20261005.md.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planned fairer study will save the exact same verified candidate code and previous AI history, then make two isolated continuations. One receives a truthful PASS; the other receives a false FAIL. We will compare what the AI does next and whether its final code still satisfies the specific property we checked. This is only a plan, not a measured effect. As of 1 November 2026, zero future main runs are eligible; the release gate is 0 of 12. Source: docs/INTEGRATED_STUDY_EXTENSION_20261018.md; README.md.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493776"/>
            <a:ext cx="3273552" cy="384048"/>
          </a:xfrm>
          <a:prstGeom prst="roundRect">
            <a:avLst>
              <a:gd name="adj" fmla="val 12000"/>
            </a:avLst>
          </a:prstGeom>
          <a:solidFill>
            <a:srgbClr val="1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512064"/>
            <a:ext cx="3072384" cy="347472"/>
          </a:xfrm>
          <a:prstGeom prst="rect">
            <a:avLst/>
          </a:prstGeom>
          <a:noFill/>
        </p:spPr>
        <p:txBody>
          <a:bodyPr wrap="square" lIns="0" rIns="0" tIns="0" bIns="0" anchor="ctr">
            <a:spAutoFit/>
          </a:bodyPr>
          <a:lstStyle/>
          <a:p>
            <a:pPr algn="ctr">
              <a:lnSpc>
                <a:spcPct val="108000"/>
              </a:lnSpc>
              <a:spcAft>
                <a:spcPts val="0"/>
              </a:spcAft>
            </a:pPr>
            <a:r>
              <a:rPr sz="1100" b="1">
                <a:solidFill>
                  <a:srgbClr val="77A9FF"/>
                </a:solidFill>
                <a:latin typeface="Arial"/>
              </a:rPr>
              <a:t>RESEARCH UPDATE  ·  1 NOV 2026</a:t>
            </a:r>
          </a:p>
        </p:txBody>
      </p:sp>
      <p:sp>
        <p:nvSpPr>
          <p:cNvPr id="5" name="TextBox 4"/>
          <p:cNvSpPr txBox="1"/>
          <p:nvPr/>
        </p:nvSpPr>
        <p:spPr>
          <a:xfrm>
            <a:off x="658368" y="1143000"/>
            <a:ext cx="10561320" cy="1874519"/>
          </a:xfrm>
          <a:prstGeom prst="rect">
            <a:avLst/>
          </a:prstGeom>
          <a:noFill/>
        </p:spPr>
        <p:txBody>
          <a:bodyPr wrap="square" lIns="0" rIns="0" tIns="0" bIns="0" anchor="t">
            <a:spAutoFit/>
          </a:bodyPr>
          <a:lstStyle/>
          <a:p>
            <a:pPr algn="l">
              <a:lnSpc>
                <a:spcPct val="108000"/>
              </a:lnSpc>
              <a:spcAft>
                <a:spcPts val="0"/>
              </a:spcAft>
            </a:pPr>
            <a:r>
              <a:rPr sz="4600" b="1">
                <a:solidFill>
                  <a:srgbClr val="F6F4EF"/>
                </a:solidFill>
                <a:latin typeface="Arial"/>
              </a:rPr>
              <a:t>Our tests said PASS.</a:t>
            </a:r>
          </a:p>
          <a:p>
            <a:pPr algn="l">
              <a:lnSpc>
                <a:spcPct val="108000"/>
              </a:lnSpc>
              <a:spcAft>
                <a:spcPts val="0"/>
              </a:spcAft>
            </a:pPr>
            <a:r>
              <a:rPr sz="4600" b="1">
                <a:solidFill>
                  <a:srgbClr val="F6F4EF"/>
                </a:solidFill>
                <a:latin typeface="Arial"/>
              </a:rPr>
              <a:t>Our grader said FAIL.</a:t>
            </a:r>
          </a:p>
        </p:txBody>
      </p:sp>
      <p:sp>
        <p:nvSpPr>
          <p:cNvPr id="6" name="TextBox 5"/>
          <p:cNvSpPr txBox="1"/>
          <p:nvPr/>
        </p:nvSpPr>
        <p:spPr>
          <a:xfrm>
            <a:off x="685800" y="3273552"/>
            <a:ext cx="10716768" cy="566928"/>
          </a:xfrm>
          <a:prstGeom prst="rect">
            <a:avLst/>
          </a:prstGeom>
          <a:noFill/>
        </p:spPr>
        <p:txBody>
          <a:bodyPr wrap="square" lIns="0" rIns="0" tIns="0" bIns="0" anchor="ctr">
            <a:spAutoFit/>
          </a:bodyPr>
          <a:lstStyle/>
          <a:p>
            <a:pPr algn="l">
              <a:lnSpc>
                <a:spcPct val="108000"/>
              </a:lnSpc>
              <a:spcAft>
                <a:spcPts val="0"/>
              </a:spcAft>
            </a:pPr>
            <a:r>
              <a:rPr sz="2400" b="0">
                <a:solidFill>
                  <a:srgbClr val="ADB9CA"/>
                </a:solidFill>
                <a:latin typeface="Arial"/>
              </a:rPr>
              <a:t>This happened in nine runs where AI tried to fix code.</a:t>
            </a:r>
          </a:p>
        </p:txBody>
      </p:sp>
      <p:sp>
        <p:nvSpPr>
          <p:cNvPr id="7" name="Rounded Rectangle 6"/>
          <p:cNvSpPr/>
          <p:nvPr/>
        </p:nvSpPr>
        <p:spPr>
          <a:xfrm>
            <a:off x="713232" y="4297680"/>
            <a:ext cx="3493008" cy="713232"/>
          </a:xfrm>
          <a:prstGeom prst="roundRect">
            <a:avLst>
              <a:gd name="adj" fmla="val 12000"/>
            </a:avLst>
          </a:prstGeom>
          <a:solidFill>
            <a:srgbClr val="174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 y="4315968"/>
            <a:ext cx="3291839" cy="676656"/>
          </a:xfrm>
          <a:prstGeom prst="rect">
            <a:avLst/>
          </a:prstGeom>
          <a:noFill/>
        </p:spPr>
        <p:txBody>
          <a:bodyPr wrap="square" lIns="0" rIns="0" tIns="0" bIns="0" anchor="ctr">
            <a:spAutoFit/>
          </a:bodyPr>
          <a:lstStyle/>
          <a:p>
            <a:pPr algn="ctr">
              <a:lnSpc>
                <a:spcPct val="108000"/>
              </a:lnSpc>
              <a:spcAft>
                <a:spcPts val="0"/>
              </a:spcAft>
            </a:pPr>
            <a:r>
              <a:rPr sz="2200" b="1">
                <a:solidFill>
                  <a:srgbClr val="5DDFC4"/>
                </a:solidFill>
                <a:latin typeface="Arial"/>
              </a:rPr>
              <a:t>OUR TESTS: PASS</a:t>
            </a:r>
          </a:p>
        </p:txBody>
      </p:sp>
      <p:sp>
        <p:nvSpPr>
          <p:cNvPr id="9" name="TextBox 8"/>
          <p:cNvSpPr txBox="1"/>
          <p:nvPr/>
        </p:nvSpPr>
        <p:spPr>
          <a:xfrm>
            <a:off x="4416552" y="4297680"/>
            <a:ext cx="621792" cy="694944"/>
          </a:xfrm>
          <a:prstGeom prst="rect">
            <a:avLst/>
          </a:prstGeom>
          <a:noFill/>
        </p:spPr>
        <p:txBody>
          <a:bodyPr wrap="square" lIns="0" rIns="0" tIns="0" bIns="0" anchor="ctr">
            <a:spAutoFit/>
          </a:bodyPr>
          <a:lstStyle/>
          <a:p>
            <a:pPr algn="ctr">
              <a:lnSpc>
                <a:spcPct val="108000"/>
              </a:lnSpc>
              <a:spcAft>
                <a:spcPts val="0"/>
              </a:spcAft>
            </a:pPr>
            <a:r>
              <a:rPr sz="3400" b="0">
                <a:solidFill>
                  <a:srgbClr val="77A9FF"/>
                </a:solidFill>
                <a:latin typeface="Arial"/>
              </a:rPr>
              <a:t>→</a:t>
            </a:r>
          </a:p>
        </p:txBody>
      </p:sp>
      <p:sp>
        <p:nvSpPr>
          <p:cNvPr id="10" name="Rounded Rectangle 9"/>
          <p:cNvSpPr/>
          <p:nvPr/>
        </p:nvSpPr>
        <p:spPr>
          <a:xfrm>
            <a:off x="5239512" y="4297680"/>
            <a:ext cx="4133087" cy="713232"/>
          </a:xfrm>
          <a:prstGeom prst="roundRect">
            <a:avLst>
              <a:gd name="adj" fmla="val 12000"/>
            </a:avLst>
          </a:prstGeom>
          <a:solidFill>
            <a:srgbClr val="4A2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40096" y="4315968"/>
            <a:ext cx="3931920" cy="676656"/>
          </a:xfrm>
          <a:prstGeom prst="rect">
            <a:avLst/>
          </a:prstGeom>
          <a:noFill/>
        </p:spPr>
        <p:txBody>
          <a:bodyPr wrap="square" lIns="0" rIns="0" tIns="0" bIns="0" anchor="ctr">
            <a:spAutoFit/>
          </a:bodyPr>
          <a:lstStyle/>
          <a:p>
            <a:pPr algn="ctr">
              <a:lnSpc>
                <a:spcPct val="108000"/>
              </a:lnSpc>
              <a:spcAft>
                <a:spcPts val="0"/>
              </a:spcAft>
            </a:pPr>
            <a:r>
              <a:rPr sz="2200" b="1">
                <a:solidFill>
                  <a:srgbClr val="FF7773"/>
                </a:solidFill>
                <a:latin typeface="Arial"/>
              </a:rPr>
              <a:t>FINAL SCORE: FAIL</a:t>
            </a:r>
          </a:p>
        </p:txBody>
      </p:sp>
      <p:cxnSp>
        <p:nvCxnSpPr>
          <p:cNvPr id="12" name="Connector 11"/>
          <p:cNvCxnSpPr/>
          <p:nvPr/>
        </p:nvCxnSpPr>
        <p:spPr>
          <a:xfrm>
            <a:off x="685800" y="6181344"/>
            <a:ext cx="10817352" cy="0"/>
          </a:xfrm>
          <a:prstGeom prst="line">
            <a:avLst/>
          </a:prstGeom>
          <a:ln w="19050">
            <a:solidFill>
              <a:srgbClr val="34445D"/>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94944" y="6309360"/>
            <a:ext cx="7909560" cy="256032"/>
          </a:xfrm>
          <a:prstGeom prst="rect">
            <a:avLst/>
          </a:prstGeom>
          <a:noFill/>
        </p:spPr>
        <p:txBody>
          <a:bodyPr wrap="square" lIns="0" rIns="0" tIns="0" bIns="0" anchor="ctr">
            <a:spAutoFit/>
          </a:bodyPr>
          <a:lstStyle/>
          <a:p>
            <a:pPr algn="l">
              <a:lnSpc>
                <a:spcPct val="108000"/>
              </a:lnSpc>
              <a:spcAft>
                <a:spcPts val="0"/>
              </a:spcAft>
            </a:pPr>
            <a:r>
              <a:rPr sz="1100" b="0">
                <a:solidFill>
                  <a:srgbClr val="ADB9CA"/>
                </a:solidFill>
                <a:latin typeface="Arial"/>
              </a:rPr>
              <a:t>Imran Zakirov  ·  Bishkek, Kyrgyzstan</a:t>
            </a:r>
          </a:p>
        </p:txBody>
      </p:sp>
      <p:sp>
        <p:nvSpPr>
          <p:cNvPr id="14" name="TextBox 13"/>
          <p:cNvSpPr txBox="1"/>
          <p:nvPr/>
        </p:nvSpPr>
        <p:spPr>
          <a:xfrm>
            <a:off x="11018520" y="6291072"/>
            <a:ext cx="457200" cy="246888"/>
          </a:xfrm>
          <a:prstGeom prst="rect">
            <a:avLst/>
          </a:prstGeom>
          <a:noFill/>
        </p:spPr>
        <p:txBody>
          <a:bodyPr wrap="square" lIns="0" rIns="0" tIns="0" bIns="0" anchor="ctr">
            <a:spAutoFit/>
          </a:bodyPr>
          <a:lstStyle/>
          <a:p>
            <a:pPr algn="r">
              <a:lnSpc>
                <a:spcPct val="108000"/>
              </a:lnSpc>
              <a:spcAft>
                <a:spcPts val="0"/>
              </a:spcAft>
            </a:pPr>
            <a:r>
              <a:rPr sz="1100" b="0">
                <a:solidFill>
                  <a:srgbClr val="ADB9CA"/>
                </a:solidFill>
                <a:latin typeface="Arial"/>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9875520" cy="274320"/>
          </a:xfrm>
          <a:prstGeom prst="rect">
            <a:avLst/>
          </a:prstGeom>
          <a:noFill/>
        </p:spPr>
        <p:txBody>
          <a:bodyPr wrap="square" lIns="0" rIns="0" tIns="0" bIns="0" anchor="ctr">
            <a:spAutoFit/>
          </a:bodyPr>
          <a:lstStyle/>
          <a:p>
            <a:pPr algn="l">
              <a:lnSpc>
                <a:spcPct val="108000"/>
              </a:lnSpc>
              <a:spcAft>
                <a:spcPts val="0"/>
              </a:spcAft>
            </a:pPr>
            <a:r>
              <a:rPr sz="1100" b="1">
                <a:solidFill>
                  <a:srgbClr val="77A9FF"/>
                </a:solidFill>
                <a:latin typeface="Arial"/>
              </a:rPr>
              <a:t>FIRST</a:t>
            </a:r>
          </a:p>
        </p:txBody>
      </p:sp>
      <p:sp>
        <p:nvSpPr>
          <p:cNvPr id="4" name="TextBox 3"/>
          <p:cNvSpPr txBox="1"/>
          <p:nvPr/>
        </p:nvSpPr>
        <p:spPr>
          <a:xfrm>
            <a:off x="640080" y="758952"/>
            <a:ext cx="10954512" cy="822960"/>
          </a:xfrm>
          <a:prstGeom prst="rect">
            <a:avLst/>
          </a:prstGeom>
          <a:noFill/>
        </p:spPr>
        <p:txBody>
          <a:bodyPr wrap="square" lIns="0" rIns="0" tIns="0" bIns="0" anchor="t">
            <a:spAutoFit/>
          </a:bodyPr>
          <a:lstStyle/>
          <a:p>
            <a:pPr algn="l">
              <a:lnSpc>
                <a:spcPct val="108000"/>
              </a:lnSpc>
              <a:spcAft>
                <a:spcPts val="0"/>
              </a:spcAft>
            </a:pPr>
            <a:r>
              <a:rPr sz="3500" b="1">
                <a:solidFill>
                  <a:srgbClr val="F6F4EF"/>
                </a:solidFill>
                <a:latin typeface="Arial"/>
              </a:rPr>
              <a:t>What was the AI doing?</a:t>
            </a:r>
          </a:p>
        </p:txBody>
      </p:sp>
      <p:cxnSp>
        <p:nvCxnSpPr>
          <p:cNvPr id="5" name="Connector 4"/>
          <p:cNvCxnSpPr/>
          <p:nvPr/>
        </p:nvCxnSpPr>
        <p:spPr>
          <a:xfrm>
            <a:off x="640080" y="6464808"/>
            <a:ext cx="10908792" cy="0"/>
          </a:xfrm>
          <a:prstGeom prst="line">
            <a:avLst/>
          </a:prstGeom>
          <a:ln w="19050">
            <a:solidFill>
              <a:srgbClr val="34445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6528816"/>
            <a:ext cx="10332720" cy="173736"/>
          </a:xfrm>
          <a:prstGeom prst="rect">
            <a:avLst/>
          </a:prstGeom>
          <a:noFill/>
        </p:spPr>
        <p:txBody>
          <a:bodyPr wrap="square" lIns="0" rIns="0" tIns="0" bIns="0" anchor="ctr">
            <a:spAutoFit/>
          </a:bodyPr>
          <a:lstStyle/>
          <a:p>
            <a:pPr algn="l">
              <a:lnSpc>
                <a:spcPct val="108000"/>
              </a:lnSpc>
              <a:spcAft>
                <a:spcPts val="0"/>
              </a:spcAft>
            </a:pPr>
            <a:r>
              <a:rPr sz="819" b="0">
                <a:solidFill>
                  <a:srgbClr val="ADB9CA"/>
                </a:solidFill>
                <a:latin typeface="Arial"/>
              </a:rPr>
              <a:t>Source: paper/final.md, Methods; README.md.</a:t>
            </a:r>
          </a:p>
        </p:txBody>
      </p:sp>
      <p:sp>
        <p:nvSpPr>
          <p:cNvPr id="7" name="TextBox 6"/>
          <p:cNvSpPr txBox="1"/>
          <p:nvPr/>
        </p:nvSpPr>
        <p:spPr>
          <a:xfrm>
            <a:off x="11045952" y="6510528"/>
            <a:ext cx="457200" cy="201168"/>
          </a:xfrm>
          <a:prstGeom prst="rect">
            <a:avLst/>
          </a:prstGeom>
          <a:noFill/>
        </p:spPr>
        <p:txBody>
          <a:bodyPr wrap="square" lIns="0" rIns="0" tIns="0" bIns="0" anchor="ctr">
            <a:spAutoFit/>
          </a:bodyPr>
          <a:lstStyle/>
          <a:p>
            <a:pPr algn="r">
              <a:lnSpc>
                <a:spcPct val="108000"/>
              </a:lnSpc>
              <a:spcAft>
                <a:spcPts val="0"/>
              </a:spcAft>
            </a:pPr>
            <a:r>
              <a:rPr sz="1000" b="0">
                <a:solidFill>
                  <a:srgbClr val="ADB9CA"/>
                </a:solidFill>
                <a:latin typeface="Arial"/>
              </a:rPr>
              <a:t>02</a:t>
            </a:r>
          </a:p>
        </p:txBody>
      </p:sp>
      <p:sp>
        <p:nvSpPr>
          <p:cNvPr id="8" name="Rounded Rectangle 7"/>
          <p:cNvSpPr/>
          <p:nvPr/>
        </p:nvSpPr>
        <p:spPr>
          <a:xfrm>
            <a:off x="685800" y="1920240"/>
            <a:ext cx="2542032" cy="2907792"/>
          </a:xfrm>
          <a:prstGeom prst="roundRect">
            <a:avLst>
              <a:gd name="adj" fmla="val 12000"/>
            </a:avLst>
          </a:prstGeom>
          <a:solidFill>
            <a:srgbClr val="17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572768" y="2176272"/>
            <a:ext cx="713232" cy="713232"/>
          </a:xfrm>
          <a:prstGeom prst="ellipse">
            <a:avLst/>
          </a:prstGeom>
          <a:solidFill>
            <a:srgbClr val="77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82496" y="2267712"/>
            <a:ext cx="475488" cy="457200"/>
          </a:xfrm>
          <a:prstGeom prst="rect">
            <a:avLst/>
          </a:prstGeom>
          <a:noFill/>
        </p:spPr>
        <p:txBody>
          <a:bodyPr wrap="square" lIns="0" rIns="0" tIns="0" bIns="0" anchor="ctr">
            <a:spAutoFit/>
          </a:bodyPr>
          <a:lstStyle/>
          <a:p>
            <a:pPr algn="ctr">
              <a:lnSpc>
                <a:spcPct val="108000"/>
              </a:lnSpc>
              <a:spcAft>
                <a:spcPts val="0"/>
              </a:spcAft>
            </a:pPr>
            <a:r>
              <a:rPr sz="2400" b="1">
                <a:solidFill>
                  <a:srgbClr val="0B1220"/>
                </a:solidFill>
                <a:latin typeface="Arial"/>
              </a:rPr>
              <a:t>1</a:t>
            </a:r>
          </a:p>
        </p:txBody>
      </p:sp>
      <p:sp>
        <p:nvSpPr>
          <p:cNvPr id="11" name="TextBox 10"/>
          <p:cNvSpPr txBox="1"/>
          <p:nvPr/>
        </p:nvSpPr>
        <p:spPr>
          <a:xfrm>
            <a:off x="868680" y="3273552"/>
            <a:ext cx="2176272" cy="987552"/>
          </a:xfrm>
          <a:prstGeom prst="rect">
            <a:avLst/>
          </a:prstGeom>
          <a:noFill/>
        </p:spPr>
        <p:txBody>
          <a:bodyPr wrap="square" lIns="0" rIns="0" tIns="0" bIns="0" anchor="ctr">
            <a:spAutoFit/>
          </a:bodyPr>
          <a:lstStyle/>
          <a:p>
            <a:pPr algn="ctr">
              <a:lnSpc>
                <a:spcPct val="108000"/>
              </a:lnSpc>
              <a:spcAft>
                <a:spcPts val="0"/>
              </a:spcAft>
            </a:pPr>
            <a:r>
              <a:rPr sz="2200" b="1">
                <a:solidFill>
                  <a:srgbClr val="F6F4EF"/>
                </a:solidFill>
                <a:latin typeface="Arial"/>
              </a:rPr>
              <a:t>See a small</a:t>
            </a:r>
          </a:p>
          <a:p>
            <a:pPr algn="ctr">
              <a:lnSpc>
                <a:spcPct val="108000"/>
              </a:lnSpc>
              <a:spcAft>
                <a:spcPts val="0"/>
              </a:spcAft>
            </a:pPr>
            <a:r>
              <a:rPr sz="2200" b="1">
                <a:solidFill>
                  <a:srgbClr val="F6F4EF"/>
                </a:solidFill>
                <a:latin typeface="Arial"/>
              </a:rPr>
              <a:t>code problem</a:t>
            </a:r>
          </a:p>
        </p:txBody>
      </p:sp>
      <p:sp>
        <p:nvSpPr>
          <p:cNvPr id="12" name="TextBox 11"/>
          <p:cNvSpPr txBox="1"/>
          <p:nvPr/>
        </p:nvSpPr>
        <p:spPr>
          <a:xfrm>
            <a:off x="3264408" y="3017520"/>
            <a:ext cx="320040" cy="603504"/>
          </a:xfrm>
          <a:prstGeom prst="rect">
            <a:avLst/>
          </a:prstGeom>
          <a:noFill/>
        </p:spPr>
        <p:txBody>
          <a:bodyPr wrap="square" lIns="0" rIns="0" tIns="0" bIns="0" anchor="ctr">
            <a:spAutoFit/>
          </a:bodyPr>
          <a:lstStyle/>
          <a:p>
            <a:pPr algn="ctr">
              <a:lnSpc>
                <a:spcPct val="108000"/>
              </a:lnSpc>
              <a:spcAft>
                <a:spcPts val="0"/>
              </a:spcAft>
            </a:pPr>
            <a:r>
              <a:rPr sz="2900" b="0">
                <a:solidFill>
                  <a:srgbClr val="77A9FF"/>
                </a:solidFill>
                <a:latin typeface="Arial"/>
              </a:rPr>
              <a:t>→</a:t>
            </a:r>
          </a:p>
        </p:txBody>
      </p:sp>
      <p:sp>
        <p:nvSpPr>
          <p:cNvPr id="13" name="Rounded Rectangle 12"/>
          <p:cNvSpPr/>
          <p:nvPr/>
        </p:nvSpPr>
        <p:spPr>
          <a:xfrm>
            <a:off x="3575304" y="1920240"/>
            <a:ext cx="2542032" cy="2907792"/>
          </a:xfrm>
          <a:prstGeom prst="roundRect">
            <a:avLst>
              <a:gd name="adj" fmla="val 12000"/>
            </a:avLst>
          </a:prstGeom>
          <a:solidFill>
            <a:srgbClr val="17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62272" y="2176272"/>
            <a:ext cx="713232" cy="713232"/>
          </a:xfrm>
          <a:prstGeom prst="ellipse">
            <a:avLst/>
          </a:prstGeom>
          <a:solidFill>
            <a:srgbClr val="5DD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0" y="2267712"/>
            <a:ext cx="475488" cy="457200"/>
          </a:xfrm>
          <a:prstGeom prst="rect">
            <a:avLst/>
          </a:prstGeom>
          <a:noFill/>
        </p:spPr>
        <p:txBody>
          <a:bodyPr wrap="square" lIns="0" rIns="0" tIns="0" bIns="0" anchor="ctr">
            <a:spAutoFit/>
          </a:bodyPr>
          <a:lstStyle/>
          <a:p>
            <a:pPr algn="ctr">
              <a:lnSpc>
                <a:spcPct val="108000"/>
              </a:lnSpc>
              <a:spcAft>
                <a:spcPts val="0"/>
              </a:spcAft>
            </a:pPr>
            <a:r>
              <a:rPr sz="2400" b="1">
                <a:solidFill>
                  <a:srgbClr val="0B1220"/>
                </a:solidFill>
                <a:latin typeface="Arial"/>
              </a:rPr>
              <a:t>2</a:t>
            </a:r>
          </a:p>
        </p:txBody>
      </p:sp>
      <p:sp>
        <p:nvSpPr>
          <p:cNvPr id="16" name="TextBox 15"/>
          <p:cNvSpPr txBox="1"/>
          <p:nvPr/>
        </p:nvSpPr>
        <p:spPr>
          <a:xfrm>
            <a:off x="3758184" y="3273552"/>
            <a:ext cx="2176272" cy="987552"/>
          </a:xfrm>
          <a:prstGeom prst="rect">
            <a:avLst/>
          </a:prstGeom>
          <a:noFill/>
        </p:spPr>
        <p:txBody>
          <a:bodyPr wrap="square" lIns="0" rIns="0" tIns="0" bIns="0" anchor="ctr">
            <a:spAutoFit/>
          </a:bodyPr>
          <a:lstStyle/>
          <a:p>
            <a:pPr algn="ctr">
              <a:lnSpc>
                <a:spcPct val="108000"/>
              </a:lnSpc>
              <a:spcAft>
                <a:spcPts val="0"/>
              </a:spcAft>
            </a:pPr>
            <a:r>
              <a:rPr sz="2200" b="1">
                <a:solidFill>
                  <a:srgbClr val="F6F4EF"/>
                </a:solidFill>
                <a:latin typeface="Arial"/>
              </a:rPr>
              <a:t>Write a</a:t>
            </a:r>
          </a:p>
          <a:p>
            <a:pPr algn="ctr">
              <a:lnSpc>
                <a:spcPct val="108000"/>
              </a:lnSpc>
              <a:spcAft>
                <a:spcPts val="0"/>
              </a:spcAft>
            </a:pPr>
            <a:r>
              <a:rPr sz="2200" b="1">
                <a:solidFill>
                  <a:srgbClr val="F6F4EF"/>
                </a:solidFill>
                <a:latin typeface="Arial"/>
              </a:rPr>
              <a:t>possible fix</a:t>
            </a:r>
          </a:p>
        </p:txBody>
      </p:sp>
      <p:sp>
        <p:nvSpPr>
          <p:cNvPr id="17" name="TextBox 16"/>
          <p:cNvSpPr txBox="1"/>
          <p:nvPr/>
        </p:nvSpPr>
        <p:spPr>
          <a:xfrm>
            <a:off x="6153912" y="3017520"/>
            <a:ext cx="320040" cy="603504"/>
          </a:xfrm>
          <a:prstGeom prst="rect">
            <a:avLst/>
          </a:prstGeom>
          <a:noFill/>
        </p:spPr>
        <p:txBody>
          <a:bodyPr wrap="square" lIns="0" rIns="0" tIns="0" bIns="0" anchor="ctr">
            <a:spAutoFit/>
          </a:bodyPr>
          <a:lstStyle/>
          <a:p>
            <a:pPr algn="ctr">
              <a:lnSpc>
                <a:spcPct val="108000"/>
              </a:lnSpc>
              <a:spcAft>
                <a:spcPts val="0"/>
              </a:spcAft>
            </a:pPr>
            <a:r>
              <a:rPr sz="2900" b="0">
                <a:solidFill>
                  <a:srgbClr val="77A9FF"/>
                </a:solidFill>
                <a:latin typeface="Arial"/>
              </a:rPr>
              <a:t>→</a:t>
            </a:r>
          </a:p>
        </p:txBody>
      </p:sp>
      <p:sp>
        <p:nvSpPr>
          <p:cNvPr id="18" name="Rounded Rectangle 17"/>
          <p:cNvSpPr/>
          <p:nvPr/>
        </p:nvSpPr>
        <p:spPr>
          <a:xfrm>
            <a:off x="6464808" y="1920240"/>
            <a:ext cx="2542032" cy="2907792"/>
          </a:xfrm>
          <a:prstGeom prst="roundRect">
            <a:avLst>
              <a:gd name="adj" fmla="val 12000"/>
            </a:avLst>
          </a:prstGeom>
          <a:solidFill>
            <a:srgbClr val="17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351776" y="2176272"/>
            <a:ext cx="713232" cy="713232"/>
          </a:xfrm>
          <a:prstGeom prst="ellipse">
            <a:avLst/>
          </a:prstGeom>
          <a:solidFill>
            <a:srgbClr val="FFC9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61504" y="2267712"/>
            <a:ext cx="475488" cy="457200"/>
          </a:xfrm>
          <a:prstGeom prst="rect">
            <a:avLst/>
          </a:prstGeom>
          <a:noFill/>
        </p:spPr>
        <p:txBody>
          <a:bodyPr wrap="square" lIns="0" rIns="0" tIns="0" bIns="0" anchor="ctr">
            <a:spAutoFit/>
          </a:bodyPr>
          <a:lstStyle/>
          <a:p>
            <a:pPr algn="ctr">
              <a:lnSpc>
                <a:spcPct val="108000"/>
              </a:lnSpc>
              <a:spcAft>
                <a:spcPts val="0"/>
              </a:spcAft>
            </a:pPr>
            <a:r>
              <a:rPr sz="2400" b="1">
                <a:solidFill>
                  <a:srgbClr val="0B1220"/>
                </a:solidFill>
                <a:latin typeface="Arial"/>
              </a:rPr>
              <a:t>3</a:t>
            </a:r>
          </a:p>
        </p:txBody>
      </p:sp>
      <p:sp>
        <p:nvSpPr>
          <p:cNvPr id="21" name="TextBox 20"/>
          <p:cNvSpPr txBox="1"/>
          <p:nvPr/>
        </p:nvSpPr>
        <p:spPr>
          <a:xfrm>
            <a:off x="6647688" y="3273552"/>
            <a:ext cx="2176272" cy="987552"/>
          </a:xfrm>
          <a:prstGeom prst="rect">
            <a:avLst/>
          </a:prstGeom>
          <a:noFill/>
        </p:spPr>
        <p:txBody>
          <a:bodyPr wrap="square" lIns="0" rIns="0" tIns="0" bIns="0" anchor="ctr">
            <a:spAutoFit/>
          </a:bodyPr>
          <a:lstStyle/>
          <a:p>
            <a:pPr algn="ctr">
              <a:lnSpc>
                <a:spcPct val="108000"/>
              </a:lnSpc>
              <a:spcAft>
                <a:spcPts val="0"/>
              </a:spcAft>
            </a:pPr>
            <a:r>
              <a:rPr sz="2200" b="1">
                <a:solidFill>
                  <a:srgbClr val="F6F4EF"/>
                </a:solidFill>
                <a:latin typeface="Arial"/>
              </a:rPr>
              <a:t>Hear PASS</a:t>
            </a:r>
          </a:p>
          <a:p>
            <a:pPr algn="ctr">
              <a:lnSpc>
                <a:spcPct val="108000"/>
              </a:lnSpc>
              <a:spcAft>
                <a:spcPts val="0"/>
              </a:spcAft>
            </a:pPr>
            <a:r>
              <a:rPr sz="2200" b="1">
                <a:solidFill>
                  <a:srgbClr val="F6F4EF"/>
                </a:solidFill>
                <a:latin typeface="Arial"/>
              </a:rPr>
              <a:t>or FAIL</a:t>
            </a:r>
          </a:p>
        </p:txBody>
      </p:sp>
      <p:sp>
        <p:nvSpPr>
          <p:cNvPr id="22" name="TextBox 21"/>
          <p:cNvSpPr txBox="1"/>
          <p:nvPr/>
        </p:nvSpPr>
        <p:spPr>
          <a:xfrm>
            <a:off x="9043416" y="3017520"/>
            <a:ext cx="320040" cy="603504"/>
          </a:xfrm>
          <a:prstGeom prst="rect">
            <a:avLst/>
          </a:prstGeom>
          <a:noFill/>
        </p:spPr>
        <p:txBody>
          <a:bodyPr wrap="square" lIns="0" rIns="0" tIns="0" bIns="0" anchor="ctr">
            <a:spAutoFit/>
          </a:bodyPr>
          <a:lstStyle/>
          <a:p>
            <a:pPr algn="ctr">
              <a:lnSpc>
                <a:spcPct val="108000"/>
              </a:lnSpc>
              <a:spcAft>
                <a:spcPts val="0"/>
              </a:spcAft>
            </a:pPr>
            <a:r>
              <a:rPr sz="2900" b="0">
                <a:solidFill>
                  <a:srgbClr val="77A9FF"/>
                </a:solidFill>
                <a:latin typeface="Arial"/>
              </a:rPr>
              <a:t>→</a:t>
            </a:r>
          </a:p>
        </p:txBody>
      </p:sp>
      <p:sp>
        <p:nvSpPr>
          <p:cNvPr id="23" name="Rounded Rectangle 22"/>
          <p:cNvSpPr/>
          <p:nvPr/>
        </p:nvSpPr>
        <p:spPr>
          <a:xfrm>
            <a:off x="9354312" y="1920240"/>
            <a:ext cx="2542032" cy="2907792"/>
          </a:xfrm>
          <a:prstGeom prst="roundRect">
            <a:avLst>
              <a:gd name="adj" fmla="val 12000"/>
            </a:avLst>
          </a:prstGeom>
          <a:solidFill>
            <a:srgbClr val="17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241280" y="2176272"/>
            <a:ext cx="713232" cy="713232"/>
          </a:xfrm>
          <a:prstGeom prst="ellipse">
            <a:avLst/>
          </a:prstGeom>
          <a:solidFill>
            <a:srgbClr val="FF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51008" y="2267712"/>
            <a:ext cx="475488" cy="457200"/>
          </a:xfrm>
          <a:prstGeom prst="rect">
            <a:avLst/>
          </a:prstGeom>
          <a:noFill/>
        </p:spPr>
        <p:txBody>
          <a:bodyPr wrap="square" lIns="0" rIns="0" tIns="0" bIns="0" anchor="ctr">
            <a:spAutoFit/>
          </a:bodyPr>
          <a:lstStyle/>
          <a:p>
            <a:pPr algn="ctr">
              <a:lnSpc>
                <a:spcPct val="108000"/>
              </a:lnSpc>
              <a:spcAft>
                <a:spcPts val="0"/>
              </a:spcAft>
            </a:pPr>
            <a:r>
              <a:rPr sz="2400" b="1">
                <a:solidFill>
                  <a:srgbClr val="0B1220"/>
                </a:solidFill>
                <a:latin typeface="Arial"/>
              </a:rPr>
              <a:t>4</a:t>
            </a:r>
          </a:p>
        </p:txBody>
      </p:sp>
      <p:sp>
        <p:nvSpPr>
          <p:cNvPr id="26" name="TextBox 25"/>
          <p:cNvSpPr txBox="1"/>
          <p:nvPr/>
        </p:nvSpPr>
        <p:spPr>
          <a:xfrm>
            <a:off x="9537192" y="3273552"/>
            <a:ext cx="2176272" cy="987552"/>
          </a:xfrm>
          <a:prstGeom prst="rect">
            <a:avLst/>
          </a:prstGeom>
          <a:noFill/>
        </p:spPr>
        <p:txBody>
          <a:bodyPr wrap="square" lIns="0" rIns="0" tIns="0" bIns="0" anchor="ctr">
            <a:spAutoFit/>
          </a:bodyPr>
          <a:lstStyle/>
          <a:p>
            <a:pPr algn="ctr">
              <a:lnSpc>
                <a:spcPct val="108000"/>
              </a:lnSpc>
              <a:spcAft>
                <a:spcPts val="0"/>
              </a:spcAft>
            </a:pPr>
            <a:r>
              <a:rPr sz="2200" b="1">
                <a:solidFill>
                  <a:srgbClr val="F6F4EF"/>
                </a:solidFill>
                <a:latin typeface="Arial"/>
              </a:rPr>
              <a:t>Stop or</a:t>
            </a:r>
          </a:p>
          <a:p>
            <a:pPr algn="ctr">
              <a:lnSpc>
                <a:spcPct val="108000"/>
              </a:lnSpc>
              <a:spcAft>
                <a:spcPts val="0"/>
              </a:spcAft>
            </a:pPr>
            <a:r>
              <a:rPr sz="2200" b="1">
                <a:solidFill>
                  <a:srgbClr val="F6F4EF"/>
                </a:solidFill>
                <a:latin typeface="Arial"/>
              </a:rPr>
              <a:t>try again</a:t>
            </a:r>
          </a:p>
        </p:txBody>
      </p:sp>
      <p:sp>
        <p:nvSpPr>
          <p:cNvPr id="27" name="Rounded Rectangle 26"/>
          <p:cNvSpPr/>
          <p:nvPr/>
        </p:nvSpPr>
        <p:spPr>
          <a:xfrm>
            <a:off x="2139696" y="5532120"/>
            <a:ext cx="7918704" cy="457200"/>
          </a:xfrm>
          <a:prstGeom prst="roundRect">
            <a:avLst>
              <a:gd name="adj" fmla="val 12000"/>
            </a:avLst>
          </a:prstGeom>
          <a:solidFill>
            <a:srgbClr val="1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240279" y="5550407"/>
            <a:ext cx="7717536" cy="420624"/>
          </a:xfrm>
          <a:prstGeom prst="rect">
            <a:avLst/>
          </a:prstGeom>
          <a:noFill/>
        </p:spPr>
        <p:txBody>
          <a:bodyPr wrap="square" lIns="0" rIns="0" tIns="0" bIns="0" anchor="ctr">
            <a:spAutoFit/>
          </a:bodyPr>
          <a:lstStyle/>
          <a:p>
            <a:pPr algn="ctr">
              <a:lnSpc>
                <a:spcPct val="108000"/>
              </a:lnSpc>
              <a:spcAft>
                <a:spcPts val="0"/>
              </a:spcAft>
            </a:pPr>
            <a:r>
              <a:rPr sz="1600" b="1">
                <a:solidFill>
                  <a:srgbClr val="F6F4EF"/>
                </a:solidFill>
                <a:latin typeface="Arial"/>
              </a:rPr>
              <a:t>This can happen several times in one run.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9875520" cy="274320"/>
          </a:xfrm>
          <a:prstGeom prst="rect">
            <a:avLst/>
          </a:prstGeom>
          <a:noFill/>
        </p:spPr>
        <p:txBody>
          <a:bodyPr wrap="square" lIns="0" rIns="0" tIns="0" bIns="0" anchor="ctr">
            <a:spAutoFit/>
          </a:bodyPr>
          <a:lstStyle/>
          <a:p>
            <a:pPr algn="l">
              <a:lnSpc>
                <a:spcPct val="108000"/>
              </a:lnSpc>
              <a:spcAft>
                <a:spcPts val="0"/>
              </a:spcAft>
            </a:pPr>
            <a:r>
              <a:rPr sz="1100" b="1">
                <a:solidFill>
                  <a:srgbClr val="77A9FF"/>
                </a:solidFill>
                <a:latin typeface="Arial"/>
              </a:rPr>
              <a:t>IMAGINE THIS</a:t>
            </a:r>
          </a:p>
        </p:txBody>
      </p:sp>
      <p:sp>
        <p:nvSpPr>
          <p:cNvPr id="4" name="TextBox 3"/>
          <p:cNvSpPr txBox="1"/>
          <p:nvPr/>
        </p:nvSpPr>
        <p:spPr>
          <a:xfrm>
            <a:off x="640080" y="758952"/>
            <a:ext cx="10954512" cy="822960"/>
          </a:xfrm>
          <a:prstGeom prst="rect">
            <a:avLst/>
          </a:prstGeom>
          <a:noFill/>
        </p:spPr>
        <p:txBody>
          <a:bodyPr wrap="square" lIns="0" rIns="0" tIns="0" bIns="0" anchor="t">
            <a:spAutoFit/>
          </a:bodyPr>
          <a:lstStyle/>
          <a:p>
            <a:pPr algn="l">
              <a:lnSpc>
                <a:spcPct val="108000"/>
              </a:lnSpc>
              <a:spcAft>
                <a:spcPts val="0"/>
              </a:spcAft>
            </a:pPr>
            <a:r>
              <a:rPr sz="3500" b="1">
                <a:solidFill>
                  <a:srgbClr val="F6F4EF"/>
                </a:solidFill>
                <a:latin typeface="Arial"/>
              </a:rPr>
              <a:t>A teacher checks every box...</a:t>
            </a:r>
          </a:p>
        </p:txBody>
      </p:sp>
      <p:cxnSp>
        <p:nvCxnSpPr>
          <p:cNvPr id="5" name="Connector 4"/>
          <p:cNvCxnSpPr/>
          <p:nvPr/>
        </p:nvCxnSpPr>
        <p:spPr>
          <a:xfrm>
            <a:off x="640080" y="6464808"/>
            <a:ext cx="10908792" cy="0"/>
          </a:xfrm>
          <a:prstGeom prst="line">
            <a:avLst/>
          </a:prstGeom>
          <a:ln w="19050">
            <a:solidFill>
              <a:srgbClr val="34445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6528816"/>
            <a:ext cx="10332720" cy="173736"/>
          </a:xfrm>
          <a:prstGeom prst="rect">
            <a:avLst/>
          </a:prstGeom>
          <a:noFill/>
        </p:spPr>
        <p:txBody>
          <a:bodyPr wrap="square" lIns="0" rIns="0" tIns="0" bIns="0" anchor="ctr">
            <a:spAutoFit/>
          </a:bodyPr>
          <a:lstStyle/>
          <a:p>
            <a:pPr algn="l">
              <a:lnSpc>
                <a:spcPct val="108000"/>
              </a:lnSpc>
              <a:spcAft>
                <a:spcPts val="0"/>
              </a:spcAft>
            </a:pPr>
            <a:r>
              <a:rPr sz="819" b="0">
                <a:solidFill>
                  <a:srgbClr val="ADB9CA"/>
                </a:solidFill>
                <a:latin typeface="Arial"/>
              </a:rPr>
              <a:t>Analogy of the historical checker; source: paper/final.md, Results.</a:t>
            </a:r>
          </a:p>
        </p:txBody>
      </p:sp>
      <p:sp>
        <p:nvSpPr>
          <p:cNvPr id="7" name="TextBox 6"/>
          <p:cNvSpPr txBox="1"/>
          <p:nvPr/>
        </p:nvSpPr>
        <p:spPr>
          <a:xfrm>
            <a:off x="11045952" y="6510528"/>
            <a:ext cx="457200" cy="201168"/>
          </a:xfrm>
          <a:prstGeom prst="rect">
            <a:avLst/>
          </a:prstGeom>
          <a:noFill/>
        </p:spPr>
        <p:txBody>
          <a:bodyPr wrap="square" lIns="0" rIns="0" tIns="0" bIns="0" anchor="ctr">
            <a:spAutoFit/>
          </a:bodyPr>
          <a:lstStyle/>
          <a:p>
            <a:pPr algn="r">
              <a:lnSpc>
                <a:spcPct val="108000"/>
              </a:lnSpc>
              <a:spcAft>
                <a:spcPts val="0"/>
              </a:spcAft>
            </a:pPr>
            <a:r>
              <a:rPr sz="1000" b="0">
                <a:solidFill>
                  <a:srgbClr val="ADB9CA"/>
                </a:solidFill>
                <a:latin typeface="Arial"/>
              </a:rPr>
              <a:t>03</a:t>
            </a:r>
          </a:p>
        </p:txBody>
      </p:sp>
      <p:sp>
        <p:nvSpPr>
          <p:cNvPr id="8" name="Rounded Rectangle 7"/>
          <p:cNvSpPr/>
          <p:nvPr/>
        </p:nvSpPr>
        <p:spPr>
          <a:xfrm>
            <a:off x="713232" y="1920240"/>
            <a:ext cx="4818888" cy="3054096"/>
          </a:xfrm>
          <a:prstGeom prst="roundRect">
            <a:avLst>
              <a:gd name="adj" fmla="val 12000"/>
            </a:avLst>
          </a:prstGeom>
          <a:solidFill>
            <a:srgbClr val="173D3B"/>
          </a:solidFill>
          <a:ln w="15240">
            <a:solidFill>
              <a:srgbClr val="2A71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240280"/>
            <a:ext cx="4178808" cy="384048"/>
          </a:xfrm>
          <a:prstGeom prst="rect">
            <a:avLst/>
          </a:prstGeom>
          <a:noFill/>
        </p:spPr>
        <p:txBody>
          <a:bodyPr wrap="square" lIns="0" rIns="0" tIns="0" bIns="0" anchor="ctr">
            <a:spAutoFit/>
          </a:bodyPr>
          <a:lstStyle/>
          <a:p>
            <a:pPr algn="l">
              <a:lnSpc>
                <a:spcPct val="108000"/>
              </a:lnSpc>
              <a:spcAft>
                <a:spcPts val="0"/>
              </a:spcAft>
            </a:pPr>
            <a:r>
              <a:rPr sz="1500" b="1">
                <a:solidFill>
                  <a:srgbClr val="5DDFC4"/>
                </a:solidFill>
                <a:latin typeface="Arial"/>
              </a:rPr>
              <a:t>THE CHECKLIST</a:t>
            </a:r>
          </a:p>
        </p:txBody>
      </p:sp>
      <p:sp>
        <p:nvSpPr>
          <p:cNvPr id="10" name="TextBox 9"/>
          <p:cNvSpPr txBox="1"/>
          <p:nvPr/>
        </p:nvSpPr>
        <p:spPr>
          <a:xfrm>
            <a:off x="1143000" y="2935224"/>
            <a:ext cx="3886200" cy="713232"/>
          </a:xfrm>
          <a:prstGeom prst="rect">
            <a:avLst/>
          </a:prstGeom>
          <a:noFill/>
        </p:spPr>
        <p:txBody>
          <a:bodyPr wrap="square" lIns="0" rIns="0" tIns="0" bIns="0" anchor="ctr">
            <a:spAutoFit/>
          </a:bodyPr>
          <a:lstStyle/>
          <a:p>
            <a:pPr algn="ctr">
              <a:lnSpc>
                <a:spcPct val="108000"/>
              </a:lnSpc>
              <a:spcAft>
                <a:spcPts val="0"/>
              </a:spcAft>
            </a:pPr>
            <a:r>
              <a:rPr sz="4400" b="1">
                <a:solidFill>
                  <a:srgbClr val="5DDFC4"/>
                </a:solidFill>
                <a:latin typeface="Arial"/>
              </a:rPr>
              <a:t>✓  ✓  ✓</a:t>
            </a:r>
          </a:p>
        </p:txBody>
      </p:sp>
      <p:sp>
        <p:nvSpPr>
          <p:cNvPr id="11" name="TextBox 10"/>
          <p:cNvSpPr txBox="1"/>
          <p:nvPr/>
        </p:nvSpPr>
        <p:spPr>
          <a:xfrm>
            <a:off x="1069848" y="3977639"/>
            <a:ext cx="4169663" cy="493776"/>
          </a:xfrm>
          <a:prstGeom prst="rect">
            <a:avLst/>
          </a:prstGeom>
          <a:noFill/>
        </p:spPr>
        <p:txBody>
          <a:bodyPr wrap="square" lIns="0" rIns="0" tIns="0" bIns="0" anchor="ctr">
            <a:spAutoFit/>
          </a:bodyPr>
          <a:lstStyle/>
          <a:p>
            <a:pPr algn="ctr">
              <a:lnSpc>
                <a:spcPct val="108000"/>
              </a:lnSpc>
              <a:spcAft>
                <a:spcPts val="0"/>
              </a:spcAft>
            </a:pPr>
            <a:r>
              <a:rPr sz="2400" b="1">
                <a:solidFill>
                  <a:srgbClr val="F6F4EF"/>
                </a:solidFill>
                <a:latin typeface="Arial"/>
              </a:rPr>
              <a:t>All listed checks pass.</a:t>
            </a:r>
          </a:p>
        </p:txBody>
      </p:sp>
      <p:sp>
        <p:nvSpPr>
          <p:cNvPr id="12" name="TextBox 11"/>
          <p:cNvSpPr txBox="1"/>
          <p:nvPr/>
        </p:nvSpPr>
        <p:spPr>
          <a:xfrm>
            <a:off x="5696712" y="2916936"/>
            <a:ext cx="777240" cy="694944"/>
          </a:xfrm>
          <a:prstGeom prst="rect">
            <a:avLst/>
          </a:prstGeom>
          <a:noFill/>
        </p:spPr>
        <p:txBody>
          <a:bodyPr wrap="square" lIns="0" rIns="0" tIns="0" bIns="0" anchor="ctr">
            <a:spAutoFit/>
          </a:bodyPr>
          <a:lstStyle/>
          <a:p>
            <a:pPr algn="ctr">
              <a:lnSpc>
                <a:spcPct val="108000"/>
              </a:lnSpc>
              <a:spcAft>
                <a:spcPts val="0"/>
              </a:spcAft>
            </a:pPr>
            <a:r>
              <a:rPr sz="3800" b="0">
                <a:solidFill>
                  <a:srgbClr val="77A9FF"/>
                </a:solidFill>
                <a:latin typeface="Arial"/>
              </a:rPr>
              <a:t>→</a:t>
            </a:r>
          </a:p>
        </p:txBody>
      </p:sp>
      <p:sp>
        <p:nvSpPr>
          <p:cNvPr id="13" name="Rounded Rectangle 12"/>
          <p:cNvSpPr/>
          <p:nvPr/>
        </p:nvSpPr>
        <p:spPr>
          <a:xfrm>
            <a:off x="6611112" y="1920240"/>
            <a:ext cx="4818888" cy="3054096"/>
          </a:xfrm>
          <a:prstGeom prst="roundRect">
            <a:avLst>
              <a:gd name="adj" fmla="val 12000"/>
            </a:avLst>
          </a:prstGeom>
          <a:solidFill>
            <a:srgbClr val="3D2634"/>
          </a:solidFill>
          <a:ln w="15240">
            <a:solidFill>
              <a:srgbClr val="7944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0296" y="2240280"/>
            <a:ext cx="4114800" cy="384048"/>
          </a:xfrm>
          <a:prstGeom prst="rect">
            <a:avLst/>
          </a:prstGeom>
          <a:noFill/>
        </p:spPr>
        <p:txBody>
          <a:bodyPr wrap="square" lIns="0" rIns="0" tIns="0" bIns="0" anchor="ctr">
            <a:spAutoFit/>
          </a:bodyPr>
          <a:lstStyle/>
          <a:p>
            <a:pPr algn="l">
              <a:lnSpc>
                <a:spcPct val="108000"/>
              </a:lnSpc>
              <a:spcAft>
                <a:spcPts val="0"/>
              </a:spcAft>
            </a:pPr>
            <a:r>
              <a:rPr sz="1500" b="1">
                <a:solidFill>
                  <a:srgbClr val="FF7773"/>
                </a:solidFill>
                <a:latin typeface="Arial"/>
              </a:rPr>
              <a:t>THE FINAL GRADE</a:t>
            </a:r>
          </a:p>
        </p:txBody>
      </p:sp>
      <p:sp>
        <p:nvSpPr>
          <p:cNvPr id="15" name="TextBox 14"/>
          <p:cNvSpPr txBox="1"/>
          <p:nvPr/>
        </p:nvSpPr>
        <p:spPr>
          <a:xfrm>
            <a:off x="7205472" y="2944368"/>
            <a:ext cx="3630168" cy="786384"/>
          </a:xfrm>
          <a:prstGeom prst="rect">
            <a:avLst/>
          </a:prstGeom>
          <a:noFill/>
        </p:spPr>
        <p:txBody>
          <a:bodyPr wrap="square" lIns="0" rIns="0" tIns="0" bIns="0" anchor="ctr">
            <a:spAutoFit/>
          </a:bodyPr>
          <a:lstStyle/>
          <a:p>
            <a:pPr algn="ctr">
              <a:lnSpc>
                <a:spcPct val="108000"/>
              </a:lnSpc>
              <a:spcAft>
                <a:spcPts val="0"/>
              </a:spcAft>
            </a:pPr>
            <a:r>
              <a:rPr sz="4800" b="1">
                <a:solidFill>
                  <a:srgbClr val="FF7773"/>
                </a:solidFill>
                <a:latin typeface="Arial"/>
              </a:rPr>
              <a:t>FAIL</a:t>
            </a:r>
          </a:p>
        </p:txBody>
      </p:sp>
      <p:sp>
        <p:nvSpPr>
          <p:cNvPr id="16" name="TextBox 15"/>
          <p:cNvSpPr txBox="1"/>
          <p:nvPr/>
        </p:nvSpPr>
        <p:spPr>
          <a:xfrm>
            <a:off x="6912864" y="3977639"/>
            <a:ext cx="4187952" cy="493776"/>
          </a:xfrm>
          <a:prstGeom prst="rect">
            <a:avLst/>
          </a:prstGeom>
          <a:noFill/>
        </p:spPr>
        <p:txBody>
          <a:bodyPr wrap="square" lIns="0" rIns="0" tIns="0" bIns="0" anchor="ctr">
            <a:spAutoFit/>
          </a:bodyPr>
          <a:lstStyle/>
          <a:p>
            <a:pPr algn="ctr">
              <a:lnSpc>
                <a:spcPct val="108000"/>
              </a:lnSpc>
              <a:spcAft>
                <a:spcPts val="0"/>
              </a:spcAft>
            </a:pPr>
            <a:r>
              <a:rPr sz="2400" b="1">
                <a:solidFill>
                  <a:srgbClr val="F6F4EF"/>
                </a:solidFill>
                <a:latin typeface="Arial"/>
              </a:rPr>
              <a:t>Another rule says no.</a:t>
            </a:r>
          </a:p>
        </p:txBody>
      </p:sp>
      <p:sp>
        <p:nvSpPr>
          <p:cNvPr id="17" name="Rounded Rectangle 16"/>
          <p:cNvSpPr/>
          <p:nvPr/>
        </p:nvSpPr>
        <p:spPr>
          <a:xfrm>
            <a:off x="1874519" y="5431536"/>
            <a:ext cx="8412480" cy="530352"/>
          </a:xfrm>
          <a:prstGeom prst="roundRect">
            <a:avLst>
              <a:gd name="adj" fmla="val 12000"/>
            </a:avLst>
          </a:prstGeom>
          <a:solidFill>
            <a:srgbClr val="1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975103" y="5449824"/>
            <a:ext cx="8211311" cy="493775"/>
          </a:xfrm>
          <a:prstGeom prst="rect">
            <a:avLst/>
          </a:prstGeom>
          <a:noFill/>
        </p:spPr>
        <p:txBody>
          <a:bodyPr wrap="square" lIns="0" rIns="0" tIns="0" bIns="0" anchor="ctr">
            <a:spAutoFit/>
          </a:bodyPr>
          <a:lstStyle/>
          <a:p>
            <a:pPr algn="ctr">
              <a:lnSpc>
                <a:spcPct val="108000"/>
              </a:lnSpc>
              <a:spcAft>
                <a:spcPts val="0"/>
              </a:spcAft>
            </a:pPr>
            <a:r>
              <a:rPr sz="1700" b="1">
                <a:solidFill>
                  <a:srgbClr val="FFC96E"/>
                </a:solidFill>
                <a:latin typeface="Arial"/>
              </a:rPr>
              <a:t>The checklist covers only the things it checks.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9875520" cy="274320"/>
          </a:xfrm>
          <a:prstGeom prst="rect">
            <a:avLst/>
          </a:prstGeom>
          <a:noFill/>
        </p:spPr>
        <p:txBody>
          <a:bodyPr wrap="square" lIns="0" rIns="0" tIns="0" bIns="0" anchor="ctr">
            <a:spAutoFit/>
          </a:bodyPr>
          <a:lstStyle/>
          <a:p>
            <a:pPr algn="l">
              <a:lnSpc>
                <a:spcPct val="108000"/>
              </a:lnSpc>
              <a:spcAft>
                <a:spcPts val="0"/>
              </a:spcAft>
            </a:pPr>
            <a:r>
              <a:rPr sz="1100" b="1">
                <a:solidFill>
                  <a:srgbClr val="77A9FF"/>
                </a:solidFill>
                <a:latin typeface="Arial"/>
              </a:rPr>
              <a:t>WHAT WE FOUND</a:t>
            </a:r>
          </a:p>
        </p:txBody>
      </p:sp>
      <p:sp>
        <p:nvSpPr>
          <p:cNvPr id="4" name="TextBox 3"/>
          <p:cNvSpPr txBox="1"/>
          <p:nvPr/>
        </p:nvSpPr>
        <p:spPr>
          <a:xfrm>
            <a:off x="640080" y="758952"/>
            <a:ext cx="10954512" cy="822960"/>
          </a:xfrm>
          <a:prstGeom prst="rect">
            <a:avLst/>
          </a:prstGeom>
          <a:noFill/>
        </p:spPr>
        <p:txBody>
          <a:bodyPr wrap="square" lIns="0" rIns="0" tIns="0" bIns="0" anchor="t">
            <a:spAutoFit/>
          </a:bodyPr>
          <a:lstStyle/>
          <a:p>
            <a:pPr algn="l">
              <a:lnSpc>
                <a:spcPct val="108000"/>
              </a:lnSpc>
              <a:spcAft>
                <a:spcPts val="0"/>
              </a:spcAft>
            </a:pPr>
            <a:r>
              <a:rPr sz="3500" b="1">
                <a:solidFill>
                  <a:srgbClr val="F6F4EF"/>
                </a:solidFill>
                <a:latin typeface="Arial"/>
              </a:rPr>
              <a:t>Nine times, tests and score disagreed</a:t>
            </a:r>
          </a:p>
        </p:txBody>
      </p:sp>
      <p:cxnSp>
        <p:nvCxnSpPr>
          <p:cNvPr id="5" name="Connector 4"/>
          <p:cNvCxnSpPr/>
          <p:nvPr/>
        </p:nvCxnSpPr>
        <p:spPr>
          <a:xfrm>
            <a:off x="640080" y="6464808"/>
            <a:ext cx="10908792" cy="0"/>
          </a:xfrm>
          <a:prstGeom prst="line">
            <a:avLst/>
          </a:prstGeom>
          <a:ln w="19050">
            <a:solidFill>
              <a:srgbClr val="34445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6528816"/>
            <a:ext cx="10332720" cy="173736"/>
          </a:xfrm>
          <a:prstGeom prst="rect">
            <a:avLst/>
          </a:prstGeom>
          <a:noFill/>
        </p:spPr>
        <p:txBody>
          <a:bodyPr wrap="square" lIns="0" rIns="0" tIns="0" bIns="0" anchor="ctr">
            <a:spAutoFit/>
          </a:bodyPr>
          <a:lstStyle/>
          <a:p>
            <a:pPr algn="l">
              <a:lnSpc>
                <a:spcPct val="108000"/>
              </a:lnSpc>
              <a:spcAft>
                <a:spcPts val="0"/>
              </a:spcAft>
            </a:pPr>
            <a:r>
              <a:rPr sz="819" b="0">
                <a:solidFill>
                  <a:srgbClr val="ADB9CA"/>
                </a:solidFill>
                <a:latin typeface="Arial"/>
              </a:rPr>
              <a:t>Source: docs/MEASUREMENT_FOLLOWUP_20261030.md, §1; paper/final.md, Results.</a:t>
            </a:r>
          </a:p>
        </p:txBody>
      </p:sp>
      <p:sp>
        <p:nvSpPr>
          <p:cNvPr id="7" name="TextBox 6"/>
          <p:cNvSpPr txBox="1"/>
          <p:nvPr/>
        </p:nvSpPr>
        <p:spPr>
          <a:xfrm>
            <a:off x="11045952" y="6510528"/>
            <a:ext cx="457200" cy="201168"/>
          </a:xfrm>
          <a:prstGeom prst="rect">
            <a:avLst/>
          </a:prstGeom>
          <a:noFill/>
        </p:spPr>
        <p:txBody>
          <a:bodyPr wrap="square" lIns="0" rIns="0" tIns="0" bIns="0" anchor="ctr">
            <a:spAutoFit/>
          </a:bodyPr>
          <a:lstStyle/>
          <a:p>
            <a:pPr algn="r">
              <a:lnSpc>
                <a:spcPct val="108000"/>
              </a:lnSpc>
              <a:spcAft>
                <a:spcPts val="0"/>
              </a:spcAft>
            </a:pPr>
            <a:r>
              <a:rPr sz="1000" b="0">
                <a:solidFill>
                  <a:srgbClr val="ADB9CA"/>
                </a:solidFill>
                <a:latin typeface="Arial"/>
              </a:rPr>
              <a:t>04</a:t>
            </a:r>
          </a:p>
        </p:txBody>
      </p:sp>
      <p:sp>
        <p:nvSpPr>
          <p:cNvPr id="8" name="Rounded Rectangle 7"/>
          <p:cNvSpPr/>
          <p:nvPr/>
        </p:nvSpPr>
        <p:spPr>
          <a:xfrm>
            <a:off x="713232" y="1920240"/>
            <a:ext cx="6492240" cy="3218688"/>
          </a:xfrm>
          <a:prstGeom prst="roundRect">
            <a:avLst>
              <a:gd name="adj" fmla="val 12000"/>
            </a:avLst>
          </a:prstGeom>
          <a:solidFill>
            <a:srgbClr val="17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15568" y="2487168"/>
            <a:ext cx="393192" cy="393192"/>
          </a:xfrm>
          <a:prstGeom prst="ellipse">
            <a:avLst/>
          </a:prstGeom>
          <a:solidFill>
            <a:srgbClr val="FF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664207" y="2487168"/>
            <a:ext cx="393192" cy="393192"/>
          </a:xfrm>
          <a:prstGeom prst="ellipse">
            <a:avLst/>
          </a:prstGeom>
          <a:solidFill>
            <a:srgbClr val="FF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212848" y="2487168"/>
            <a:ext cx="393192" cy="393192"/>
          </a:xfrm>
          <a:prstGeom prst="ellipse">
            <a:avLst/>
          </a:prstGeom>
          <a:solidFill>
            <a:srgbClr val="FF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761487" y="2487168"/>
            <a:ext cx="393192" cy="393192"/>
          </a:xfrm>
          <a:prstGeom prst="ellipse">
            <a:avLst/>
          </a:prstGeom>
          <a:solidFill>
            <a:srgbClr val="FF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310128" y="2487168"/>
            <a:ext cx="393192" cy="393192"/>
          </a:xfrm>
          <a:prstGeom prst="ellipse">
            <a:avLst/>
          </a:prstGeom>
          <a:solidFill>
            <a:srgbClr val="FF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858768" y="2487168"/>
            <a:ext cx="393192" cy="393192"/>
          </a:xfrm>
          <a:prstGeom prst="ellipse">
            <a:avLst/>
          </a:prstGeom>
          <a:solidFill>
            <a:srgbClr val="FF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407407" y="2487168"/>
            <a:ext cx="393192" cy="393192"/>
          </a:xfrm>
          <a:prstGeom prst="ellipse">
            <a:avLst/>
          </a:prstGeom>
          <a:solidFill>
            <a:srgbClr val="FF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956048" y="2487168"/>
            <a:ext cx="393192" cy="393192"/>
          </a:xfrm>
          <a:prstGeom prst="ellipse">
            <a:avLst/>
          </a:prstGeom>
          <a:solidFill>
            <a:srgbClr val="FF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504688" y="2487168"/>
            <a:ext cx="393192" cy="393192"/>
          </a:xfrm>
          <a:prstGeom prst="ellipse">
            <a:avLst/>
          </a:prstGeom>
          <a:solidFill>
            <a:srgbClr val="FF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053327" y="2487168"/>
            <a:ext cx="393192" cy="393192"/>
          </a:xfrm>
          <a:prstGeom prst="ellipse">
            <a:avLst/>
          </a:prstGeom>
          <a:solidFill>
            <a:srgbClr val="1D2B45"/>
          </a:solidFill>
          <a:ln w="13970">
            <a:solidFill>
              <a:srgbClr val="3444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15568" y="3264408"/>
            <a:ext cx="393192" cy="393192"/>
          </a:xfrm>
          <a:prstGeom prst="ellipse">
            <a:avLst/>
          </a:prstGeom>
          <a:solidFill>
            <a:srgbClr val="1D2B45"/>
          </a:solidFill>
          <a:ln w="13970">
            <a:solidFill>
              <a:srgbClr val="3444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664207" y="3264408"/>
            <a:ext cx="393192" cy="393192"/>
          </a:xfrm>
          <a:prstGeom prst="ellipse">
            <a:avLst/>
          </a:prstGeom>
          <a:solidFill>
            <a:srgbClr val="1D2B45"/>
          </a:solidFill>
          <a:ln w="13970">
            <a:solidFill>
              <a:srgbClr val="3444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2212848" y="3264408"/>
            <a:ext cx="393192" cy="393192"/>
          </a:xfrm>
          <a:prstGeom prst="ellipse">
            <a:avLst/>
          </a:prstGeom>
          <a:solidFill>
            <a:srgbClr val="1D2B45"/>
          </a:solidFill>
          <a:ln w="13970">
            <a:solidFill>
              <a:srgbClr val="3444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761487" y="3264408"/>
            <a:ext cx="393192" cy="393192"/>
          </a:xfrm>
          <a:prstGeom prst="ellipse">
            <a:avLst/>
          </a:prstGeom>
          <a:solidFill>
            <a:srgbClr val="1D2B45"/>
          </a:solidFill>
          <a:ln w="13970">
            <a:solidFill>
              <a:srgbClr val="3444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310128" y="3264408"/>
            <a:ext cx="393192" cy="393192"/>
          </a:xfrm>
          <a:prstGeom prst="ellipse">
            <a:avLst/>
          </a:prstGeom>
          <a:solidFill>
            <a:srgbClr val="1D2B45"/>
          </a:solidFill>
          <a:ln w="13970">
            <a:solidFill>
              <a:srgbClr val="3444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858768" y="3264408"/>
            <a:ext cx="393192" cy="393192"/>
          </a:xfrm>
          <a:prstGeom prst="ellipse">
            <a:avLst/>
          </a:prstGeom>
          <a:solidFill>
            <a:srgbClr val="1D2B45"/>
          </a:solidFill>
          <a:ln w="13970">
            <a:solidFill>
              <a:srgbClr val="3444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407407" y="3264408"/>
            <a:ext cx="393192" cy="393192"/>
          </a:xfrm>
          <a:prstGeom prst="ellipse">
            <a:avLst/>
          </a:prstGeom>
          <a:solidFill>
            <a:srgbClr val="1D2B45"/>
          </a:solidFill>
          <a:ln w="13970">
            <a:solidFill>
              <a:srgbClr val="3444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956048" y="3264408"/>
            <a:ext cx="393192" cy="393192"/>
          </a:xfrm>
          <a:prstGeom prst="ellipse">
            <a:avLst/>
          </a:prstGeom>
          <a:solidFill>
            <a:srgbClr val="1D2B45"/>
          </a:solidFill>
          <a:ln w="13970">
            <a:solidFill>
              <a:srgbClr val="3444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504688" y="3264408"/>
            <a:ext cx="393192" cy="393192"/>
          </a:xfrm>
          <a:prstGeom prst="ellipse">
            <a:avLst/>
          </a:prstGeom>
          <a:solidFill>
            <a:srgbClr val="1D2B45"/>
          </a:solidFill>
          <a:ln w="13970">
            <a:solidFill>
              <a:srgbClr val="3444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053327" y="3264408"/>
            <a:ext cx="393192" cy="393192"/>
          </a:xfrm>
          <a:prstGeom prst="ellipse">
            <a:avLst/>
          </a:prstGeom>
          <a:solidFill>
            <a:srgbClr val="1D2B45"/>
          </a:solidFill>
          <a:ln w="13970">
            <a:solidFill>
              <a:srgbClr val="3444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69848" y="4334256"/>
            <a:ext cx="5650992" cy="475488"/>
          </a:xfrm>
          <a:prstGeom prst="rect">
            <a:avLst/>
          </a:prstGeom>
          <a:noFill/>
        </p:spPr>
        <p:txBody>
          <a:bodyPr wrap="square" lIns="0" rIns="0" tIns="0" bIns="0" anchor="ctr">
            <a:spAutoFit/>
          </a:bodyPr>
          <a:lstStyle/>
          <a:p>
            <a:pPr algn="l">
              <a:lnSpc>
                <a:spcPct val="108000"/>
              </a:lnSpc>
              <a:spcAft>
                <a:spcPts val="0"/>
              </a:spcAft>
            </a:pPr>
            <a:r>
              <a:rPr sz="1900" b="0">
                <a:solidFill>
                  <a:srgbClr val="ADB9CA"/>
                </a:solidFill>
                <a:latin typeface="Arial"/>
              </a:rPr>
              <a:t>20 runs had the extra "no" rule</a:t>
            </a:r>
          </a:p>
        </p:txBody>
      </p:sp>
      <p:sp>
        <p:nvSpPr>
          <p:cNvPr id="30" name="TextBox 29"/>
          <p:cNvSpPr txBox="1"/>
          <p:nvPr/>
        </p:nvSpPr>
        <p:spPr>
          <a:xfrm>
            <a:off x="7589520" y="2240280"/>
            <a:ext cx="3794760" cy="868680"/>
          </a:xfrm>
          <a:prstGeom prst="rect">
            <a:avLst/>
          </a:prstGeom>
          <a:noFill/>
        </p:spPr>
        <p:txBody>
          <a:bodyPr wrap="square" lIns="0" rIns="0" tIns="0" bIns="0" anchor="ctr">
            <a:spAutoFit/>
          </a:bodyPr>
          <a:lstStyle/>
          <a:p>
            <a:pPr algn="ctr">
              <a:lnSpc>
                <a:spcPct val="108000"/>
              </a:lnSpc>
              <a:spcAft>
                <a:spcPts val="0"/>
              </a:spcAft>
            </a:pPr>
            <a:r>
              <a:rPr sz="4900" b="1">
                <a:solidFill>
                  <a:srgbClr val="FF7773"/>
                </a:solidFill>
                <a:latin typeface="Arial"/>
              </a:rPr>
              <a:t>9 of 20</a:t>
            </a:r>
          </a:p>
        </p:txBody>
      </p:sp>
      <p:sp>
        <p:nvSpPr>
          <p:cNvPr id="31" name="TextBox 30"/>
          <p:cNvSpPr txBox="1"/>
          <p:nvPr/>
        </p:nvSpPr>
        <p:spPr>
          <a:xfrm>
            <a:off x="7498079" y="3291840"/>
            <a:ext cx="3913632" cy="1097280"/>
          </a:xfrm>
          <a:prstGeom prst="rect">
            <a:avLst/>
          </a:prstGeom>
          <a:noFill/>
        </p:spPr>
        <p:txBody>
          <a:bodyPr wrap="square" lIns="0" rIns="0" tIns="0" bIns="0" anchor="ctr">
            <a:spAutoFit/>
          </a:bodyPr>
          <a:lstStyle/>
          <a:p>
            <a:pPr algn="ctr">
              <a:lnSpc>
                <a:spcPct val="108000"/>
              </a:lnSpc>
              <a:spcAft>
                <a:spcPts val="0"/>
              </a:spcAft>
            </a:pPr>
            <a:r>
              <a:rPr sz="2400" b="1">
                <a:solidFill>
                  <a:srgbClr val="F6F4EF"/>
                </a:solidFill>
                <a:latin typeface="Arial"/>
              </a:rPr>
              <a:t>passed our written tests</a:t>
            </a:r>
          </a:p>
          <a:p>
            <a:pPr algn="ctr">
              <a:lnSpc>
                <a:spcPct val="108000"/>
              </a:lnSpc>
              <a:spcAft>
                <a:spcPts val="0"/>
              </a:spcAft>
            </a:pPr>
            <a:r>
              <a:rPr sz="2400" b="1">
                <a:solidFill>
                  <a:srgbClr val="F6F4EF"/>
                </a:solidFill>
                <a:latin typeface="Arial"/>
              </a:rPr>
              <a:t>but still got FAIL</a:t>
            </a:r>
          </a:p>
        </p:txBody>
      </p:sp>
      <p:sp>
        <p:nvSpPr>
          <p:cNvPr id="32" name="Rounded Rectangle 31"/>
          <p:cNvSpPr/>
          <p:nvPr/>
        </p:nvSpPr>
        <p:spPr>
          <a:xfrm>
            <a:off x="3017520" y="5504688"/>
            <a:ext cx="6144768" cy="484632"/>
          </a:xfrm>
          <a:prstGeom prst="roundRect">
            <a:avLst>
              <a:gd name="adj" fmla="val 12000"/>
            </a:avLst>
          </a:prstGeom>
          <a:solidFill>
            <a:srgbClr val="1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118103" y="5522975"/>
            <a:ext cx="5943600" cy="448056"/>
          </a:xfrm>
          <a:prstGeom prst="rect">
            <a:avLst/>
          </a:prstGeom>
          <a:noFill/>
        </p:spPr>
        <p:txBody>
          <a:bodyPr wrap="square" lIns="0" rIns="0" tIns="0" bIns="0" anchor="ctr">
            <a:spAutoFit/>
          </a:bodyPr>
          <a:lstStyle/>
          <a:p>
            <a:pPr algn="ctr">
              <a:lnSpc>
                <a:spcPct val="108000"/>
              </a:lnSpc>
              <a:spcAft>
                <a:spcPts val="0"/>
              </a:spcAft>
            </a:pPr>
            <a:r>
              <a:rPr sz="1700" b="1">
                <a:solidFill>
                  <a:srgbClr val="77A9FF"/>
                </a:solidFill>
                <a:latin typeface="Arial"/>
              </a:rPr>
              <a:t>We reviewed 40 AI runs in total.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9875520" cy="274320"/>
          </a:xfrm>
          <a:prstGeom prst="rect">
            <a:avLst/>
          </a:prstGeom>
          <a:noFill/>
        </p:spPr>
        <p:txBody>
          <a:bodyPr wrap="square" lIns="0" rIns="0" tIns="0" bIns="0" anchor="ctr">
            <a:spAutoFit/>
          </a:bodyPr>
          <a:lstStyle/>
          <a:p>
            <a:pPr algn="l">
              <a:lnSpc>
                <a:spcPct val="108000"/>
              </a:lnSpc>
              <a:spcAft>
                <a:spcPts val="0"/>
              </a:spcAft>
            </a:pPr>
            <a:r>
              <a:rPr sz="1100" b="1">
                <a:solidFill>
                  <a:srgbClr val="77A9FF"/>
                </a:solidFill>
                <a:latin typeface="Arial"/>
              </a:rPr>
              <a:t>WHY</a:t>
            </a:r>
          </a:p>
        </p:txBody>
      </p:sp>
      <p:sp>
        <p:nvSpPr>
          <p:cNvPr id="4" name="TextBox 3"/>
          <p:cNvSpPr txBox="1"/>
          <p:nvPr/>
        </p:nvSpPr>
        <p:spPr>
          <a:xfrm>
            <a:off x="640080" y="758952"/>
            <a:ext cx="10954512" cy="822960"/>
          </a:xfrm>
          <a:prstGeom prst="rect">
            <a:avLst/>
          </a:prstGeom>
          <a:noFill/>
        </p:spPr>
        <p:txBody>
          <a:bodyPr wrap="square" lIns="0" rIns="0" tIns="0" bIns="0" anchor="t">
            <a:spAutoFit/>
          </a:bodyPr>
          <a:lstStyle/>
          <a:p>
            <a:pPr algn="l">
              <a:lnSpc>
                <a:spcPct val="108000"/>
              </a:lnSpc>
              <a:spcAft>
                <a:spcPts val="0"/>
              </a:spcAft>
            </a:pPr>
            <a:r>
              <a:rPr sz="3500" b="1">
                <a:solidFill>
                  <a:srgbClr val="F6F4EF"/>
                </a:solidFill>
                <a:latin typeface="Arial"/>
              </a:rPr>
              <a:t>Our checker had an extra rule</a:t>
            </a:r>
          </a:p>
        </p:txBody>
      </p:sp>
      <p:cxnSp>
        <p:nvCxnSpPr>
          <p:cNvPr id="5" name="Connector 4"/>
          <p:cNvCxnSpPr/>
          <p:nvPr/>
        </p:nvCxnSpPr>
        <p:spPr>
          <a:xfrm>
            <a:off x="640080" y="6464808"/>
            <a:ext cx="10908792" cy="0"/>
          </a:xfrm>
          <a:prstGeom prst="line">
            <a:avLst/>
          </a:prstGeom>
          <a:ln w="19050">
            <a:solidFill>
              <a:srgbClr val="34445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6528816"/>
            <a:ext cx="10332720" cy="173736"/>
          </a:xfrm>
          <a:prstGeom prst="rect">
            <a:avLst/>
          </a:prstGeom>
          <a:noFill/>
        </p:spPr>
        <p:txBody>
          <a:bodyPr wrap="square" lIns="0" rIns="0" tIns="0" bIns="0" anchor="ctr">
            <a:spAutoFit/>
          </a:bodyPr>
          <a:lstStyle/>
          <a:p>
            <a:pPr algn="l">
              <a:lnSpc>
                <a:spcPct val="108000"/>
              </a:lnSpc>
              <a:spcAft>
                <a:spcPts val="0"/>
              </a:spcAft>
            </a:pPr>
            <a:r>
              <a:rPr sz="819" b="0">
                <a:solidFill>
                  <a:srgbClr val="ADB9CA"/>
                </a:solidFill>
                <a:latin typeface="Arial"/>
              </a:rPr>
              <a:t>Source: paper/final.md, Results; docs/PROJECT_OVERVIEW_20261029.md.</a:t>
            </a:r>
          </a:p>
        </p:txBody>
      </p:sp>
      <p:sp>
        <p:nvSpPr>
          <p:cNvPr id="7" name="TextBox 6"/>
          <p:cNvSpPr txBox="1"/>
          <p:nvPr/>
        </p:nvSpPr>
        <p:spPr>
          <a:xfrm>
            <a:off x="11045952" y="6510528"/>
            <a:ext cx="457200" cy="201168"/>
          </a:xfrm>
          <a:prstGeom prst="rect">
            <a:avLst/>
          </a:prstGeom>
          <a:noFill/>
        </p:spPr>
        <p:txBody>
          <a:bodyPr wrap="square" lIns="0" rIns="0" tIns="0" bIns="0" anchor="ctr">
            <a:spAutoFit/>
          </a:bodyPr>
          <a:lstStyle/>
          <a:p>
            <a:pPr algn="r">
              <a:lnSpc>
                <a:spcPct val="108000"/>
              </a:lnSpc>
              <a:spcAft>
                <a:spcPts val="0"/>
              </a:spcAft>
            </a:pPr>
            <a:r>
              <a:rPr sz="1000" b="0">
                <a:solidFill>
                  <a:srgbClr val="ADB9CA"/>
                </a:solidFill>
                <a:latin typeface="Arial"/>
              </a:rPr>
              <a:t>05</a:t>
            </a:r>
          </a:p>
        </p:txBody>
      </p:sp>
      <p:sp>
        <p:nvSpPr>
          <p:cNvPr id="8" name="Rounded Rectangle 7"/>
          <p:cNvSpPr/>
          <p:nvPr/>
        </p:nvSpPr>
        <p:spPr>
          <a:xfrm>
            <a:off x="749808" y="1892807"/>
            <a:ext cx="4882896" cy="1856231"/>
          </a:xfrm>
          <a:prstGeom prst="roundRect">
            <a:avLst>
              <a:gd name="adj" fmla="val 12000"/>
            </a:avLst>
          </a:prstGeom>
          <a:solidFill>
            <a:srgbClr val="173D3B"/>
          </a:solidFill>
          <a:ln w="15240">
            <a:solidFill>
              <a:srgbClr val="2A71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9848" y="2203704"/>
            <a:ext cx="4261104" cy="393192"/>
          </a:xfrm>
          <a:prstGeom prst="rect">
            <a:avLst/>
          </a:prstGeom>
          <a:noFill/>
        </p:spPr>
        <p:txBody>
          <a:bodyPr wrap="square" lIns="0" rIns="0" tIns="0" bIns="0" anchor="ctr">
            <a:spAutoFit/>
          </a:bodyPr>
          <a:lstStyle/>
          <a:p>
            <a:pPr algn="ctr">
              <a:lnSpc>
                <a:spcPct val="108000"/>
              </a:lnSpc>
              <a:spcAft>
                <a:spcPts val="0"/>
              </a:spcAft>
            </a:pPr>
            <a:r>
              <a:rPr sz="1700" b="1">
                <a:solidFill>
                  <a:srgbClr val="5DDFC4"/>
                </a:solidFill>
                <a:latin typeface="Arial"/>
              </a:rPr>
              <a:t>WRITTEN TESTS</a:t>
            </a:r>
          </a:p>
        </p:txBody>
      </p:sp>
      <p:sp>
        <p:nvSpPr>
          <p:cNvPr id="10" name="TextBox 9"/>
          <p:cNvSpPr txBox="1"/>
          <p:nvPr/>
        </p:nvSpPr>
        <p:spPr>
          <a:xfrm>
            <a:off x="1069848" y="2761488"/>
            <a:ext cx="4261104" cy="640080"/>
          </a:xfrm>
          <a:prstGeom prst="rect">
            <a:avLst/>
          </a:prstGeom>
          <a:noFill/>
        </p:spPr>
        <p:txBody>
          <a:bodyPr wrap="square" lIns="0" rIns="0" tIns="0" bIns="0" anchor="ctr">
            <a:spAutoFit/>
          </a:bodyPr>
          <a:lstStyle/>
          <a:p>
            <a:pPr algn="ctr">
              <a:lnSpc>
                <a:spcPct val="108000"/>
              </a:lnSpc>
              <a:spcAft>
                <a:spcPts val="0"/>
              </a:spcAft>
            </a:pPr>
            <a:r>
              <a:rPr sz="3500" b="1">
                <a:solidFill>
                  <a:srgbClr val="5DDFC4"/>
                </a:solidFill>
                <a:latin typeface="Arial"/>
              </a:rPr>
              <a:t>PASS</a:t>
            </a:r>
          </a:p>
        </p:txBody>
      </p:sp>
      <p:sp>
        <p:nvSpPr>
          <p:cNvPr id="11" name="TextBox 10"/>
          <p:cNvSpPr txBox="1"/>
          <p:nvPr/>
        </p:nvSpPr>
        <p:spPr>
          <a:xfrm>
            <a:off x="5742432" y="2478024"/>
            <a:ext cx="621792" cy="603504"/>
          </a:xfrm>
          <a:prstGeom prst="rect">
            <a:avLst/>
          </a:prstGeom>
          <a:noFill/>
        </p:spPr>
        <p:txBody>
          <a:bodyPr wrap="square" lIns="0" rIns="0" tIns="0" bIns="0" anchor="ctr">
            <a:spAutoFit/>
          </a:bodyPr>
          <a:lstStyle/>
          <a:p>
            <a:pPr algn="ctr">
              <a:lnSpc>
                <a:spcPct val="108000"/>
              </a:lnSpc>
              <a:spcAft>
                <a:spcPts val="0"/>
              </a:spcAft>
            </a:pPr>
            <a:r>
              <a:rPr sz="3300" b="0">
                <a:solidFill>
                  <a:srgbClr val="ADB9CA"/>
                </a:solidFill>
                <a:latin typeface="Arial"/>
              </a:rPr>
              <a:t>+</a:t>
            </a:r>
          </a:p>
        </p:txBody>
      </p:sp>
      <p:sp>
        <p:nvSpPr>
          <p:cNvPr id="12" name="Rounded Rectangle 11"/>
          <p:cNvSpPr/>
          <p:nvPr/>
        </p:nvSpPr>
        <p:spPr>
          <a:xfrm>
            <a:off x="6464808" y="1892807"/>
            <a:ext cx="4882896" cy="1856231"/>
          </a:xfrm>
          <a:prstGeom prst="roundRect">
            <a:avLst>
              <a:gd name="adj" fmla="val 12000"/>
            </a:avLst>
          </a:prstGeom>
          <a:solidFill>
            <a:srgbClr val="3D2634"/>
          </a:solidFill>
          <a:ln w="15240">
            <a:solidFill>
              <a:srgbClr val="7944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84848" y="2203704"/>
            <a:ext cx="4242816" cy="393192"/>
          </a:xfrm>
          <a:prstGeom prst="rect">
            <a:avLst/>
          </a:prstGeom>
          <a:noFill/>
        </p:spPr>
        <p:txBody>
          <a:bodyPr wrap="square" lIns="0" rIns="0" tIns="0" bIns="0" anchor="ctr">
            <a:spAutoFit/>
          </a:bodyPr>
          <a:lstStyle/>
          <a:p>
            <a:pPr algn="ctr">
              <a:lnSpc>
                <a:spcPct val="108000"/>
              </a:lnSpc>
              <a:spcAft>
                <a:spcPts val="0"/>
              </a:spcAft>
            </a:pPr>
            <a:r>
              <a:rPr sz="1700" b="1">
                <a:solidFill>
                  <a:srgbClr val="FF7773"/>
                </a:solidFill>
                <a:latin typeface="Arial"/>
              </a:rPr>
              <a:t>OUR EXTRA RULE</a:t>
            </a:r>
          </a:p>
        </p:txBody>
      </p:sp>
      <p:sp>
        <p:nvSpPr>
          <p:cNvPr id="14" name="TextBox 13"/>
          <p:cNvSpPr txBox="1"/>
          <p:nvPr/>
        </p:nvSpPr>
        <p:spPr>
          <a:xfrm>
            <a:off x="6784848" y="2761488"/>
            <a:ext cx="4242816" cy="640080"/>
          </a:xfrm>
          <a:prstGeom prst="rect">
            <a:avLst/>
          </a:prstGeom>
          <a:noFill/>
        </p:spPr>
        <p:txBody>
          <a:bodyPr wrap="square" lIns="0" rIns="0" tIns="0" bIns="0" anchor="ctr">
            <a:spAutoFit/>
          </a:bodyPr>
          <a:lstStyle/>
          <a:p>
            <a:pPr algn="ctr">
              <a:lnSpc>
                <a:spcPct val="108000"/>
              </a:lnSpc>
              <a:spcAft>
                <a:spcPts val="0"/>
              </a:spcAft>
            </a:pPr>
            <a:r>
              <a:rPr sz="3500" b="1">
                <a:solidFill>
                  <a:srgbClr val="FF7773"/>
                </a:solidFill>
                <a:latin typeface="Arial"/>
              </a:rPr>
              <a:t>NO</a:t>
            </a:r>
          </a:p>
        </p:txBody>
      </p:sp>
      <p:sp>
        <p:nvSpPr>
          <p:cNvPr id="15" name="TextBox 14"/>
          <p:cNvSpPr txBox="1"/>
          <p:nvPr/>
        </p:nvSpPr>
        <p:spPr>
          <a:xfrm>
            <a:off x="3145536" y="4078224"/>
            <a:ext cx="5897880" cy="713232"/>
          </a:xfrm>
          <a:prstGeom prst="rect">
            <a:avLst/>
          </a:prstGeom>
          <a:noFill/>
        </p:spPr>
        <p:txBody>
          <a:bodyPr wrap="square" lIns="0" rIns="0" tIns="0" bIns="0" anchor="ctr">
            <a:spAutoFit/>
          </a:bodyPr>
          <a:lstStyle/>
          <a:p>
            <a:pPr algn="ctr">
              <a:lnSpc>
                <a:spcPct val="108000"/>
              </a:lnSpc>
              <a:spcAft>
                <a:spcPts val="0"/>
              </a:spcAft>
            </a:pPr>
            <a:r>
              <a:rPr sz="3200" b="1">
                <a:solidFill>
                  <a:srgbClr val="FF7773"/>
                </a:solidFill>
                <a:latin typeface="Arial"/>
              </a:rPr>
              <a:t>=  FINAL FAIL</a:t>
            </a:r>
          </a:p>
        </p:txBody>
      </p:sp>
      <p:sp>
        <p:nvSpPr>
          <p:cNvPr id="16" name="Rounded Rectangle 15"/>
          <p:cNvSpPr/>
          <p:nvPr/>
        </p:nvSpPr>
        <p:spPr>
          <a:xfrm>
            <a:off x="1874519" y="5458968"/>
            <a:ext cx="8449056" cy="521207"/>
          </a:xfrm>
          <a:prstGeom prst="roundRect">
            <a:avLst>
              <a:gd name="adj" fmla="val 12000"/>
            </a:avLst>
          </a:prstGeom>
          <a:solidFill>
            <a:srgbClr val="1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75103" y="5477255"/>
            <a:ext cx="8247888" cy="484631"/>
          </a:xfrm>
          <a:prstGeom prst="rect">
            <a:avLst/>
          </a:prstGeom>
          <a:noFill/>
        </p:spPr>
        <p:txBody>
          <a:bodyPr wrap="square" lIns="0" rIns="0" tIns="0" bIns="0" anchor="ctr">
            <a:spAutoFit/>
          </a:bodyPr>
          <a:lstStyle/>
          <a:p>
            <a:pPr algn="ctr">
              <a:lnSpc>
                <a:spcPct val="108000"/>
              </a:lnSpc>
              <a:spcAft>
                <a:spcPts val="0"/>
              </a:spcAft>
            </a:pPr>
            <a:r>
              <a:rPr sz="1800" b="1">
                <a:solidFill>
                  <a:srgbClr val="FFC96E"/>
                </a:solidFill>
                <a:latin typeface="Arial"/>
              </a:rPr>
              <a:t>We added that rule. The AI did not see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9875520" cy="274320"/>
          </a:xfrm>
          <a:prstGeom prst="rect">
            <a:avLst/>
          </a:prstGeom>
          <a:noFill/>
        </p:spPr>
        <p:txBody>
          <a:bodyPr wrap="square" lIns="0" rIns="0" tIns="0" bIns="0" anchor="ctr">
            <a:spAutoFit/>
          </a:bodyPr>
          <a:lstStyle/>
          <a:p>
            <a:pPr algn="l">
              <a:lnSpc>
                <a:spcPct val="108000"/>
              </a:lnSpc>
              <a:spcAft>
                <a:spcPts val="0"/>
              </a:spcAft>
            </a:pPr>
            <a:r>
              <a:rPr sz="1100" b="1">
                <a:solidFill>
                  <a:srgbClr val="77A9FF"/>
                </a:solidFill>
                <a:latin typeface="Arial"/>
              </a:rPr>
              <a:t>SO WHAT?</a:t>
            </a:r>
          </a:p>
        </p:txBody>
      </p:sp>
      <p:sp>
        <p:nvSpPr>
          <p:cNvPr id="4" name="TextBox 3"/>
          <p:cNvSpPr txBox="1"/>
          <p:nvPr/>
        </p:nvSpPr>
        <p:spPr>
          <a:xfrm>
            <a:off x="640080" y="758952"/>
            <a:ext cx="10954512" cy="822960"/>
          </a:xfrm>
          <a:prstGeom prst="rect">
            <a:avLst/>
          </a:prstGeom>
          <a:noFill/>
        </p:spPr>
        <p:txBody>
          <a:bodyPr wrap="square" lIns="0" rIns="0" tIns="0" bIns="0" anchor="t">
            <a:spAutoFit/>
          </a:bodyPr>
          <a:lstStyle/>
          <a:p>
            <a:pPr algn="l">
              <a:lnSpc>
                <a:spcPct val="108000"/>
              </a:lnSpc>
              <a:spcAft>
                <a:spcPts val="0"/>
              </a:spcAft>
            </a:pPr>
            <a:r>
              <a:rPr sz="3500" b="1">
                <a:solidFill>
                  <a:srgbClr val="F6F4EF"/>
                </a:solidFill>
                <a:latin typeface="Arial"/>
              </a:rPr>
              <a:t>The score can mislead us</a:t>
            </a:r>
          </a:p>
        </p:txBody>
      </p:sp>
      <p:cxnSp>
        <p:nvCxnSpPr>
          <p:cNvPr id="5" name="Connector 4"/>
          <p:cNvCxnSpPr/>
          <p:nvPr/>
        </p:nvCxnSpPr>
        <p:spPr>
          <a:xfrm>
            <a:off x="640080" y="6464808"/>
            <a:ext cx="10908792" cy="0"/>
          </a:xfrm>
          <a:prstGeom prst="line">
            <a:avLst/>
          </a:prstGeom>
          <a:ln w="19050">
            <a:solidFill>
              <a:srgbClr val="34445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6528816"/>
            <a:ext cx="10332720" cy="173736"/>
          </a:xfrm>
          <a:prstGeom prst="rect">
            <a:avLst/>
          </a:prstGeom>
          <a:noFill/>
        </p:spPr>
        <p:txBody>
          <a:bodyPr wrap="square" lIns="0" rIns="0" tIns="0" bIns="0" anchor="ctr">
            <a:spAutoFit/>
          </a:bodyPr>
          <a:lstStyle/>
          <a:p>
            <a:pPr algn="l">
              <a:lnSpc>
                <a:spcPct val="108000"/>
              </a:lnSpc>
              <a:spcAft>
                <a:spcPts val="0"/>
              </a:spcAft>
            </a:pPr>
            <a:r>
              <a:rPr sz="819" b="0">
                <a:solidFill>
                  <a:srgbClr val="ADB9CA"/>
                </a:solidFill>
                <a:latin typeface="Arial"/>
              </a:rPr>
              <a:t>Source: paper/final.md, Discussion and limitations.</a:t>
            </a:r>
          </a:p>
        </p:txBody>
      </p:sp>
      <p:sp>
        <p:nvSpPr>
          <p:cNvPr id="7" name="TextBox 6"/>
          <p:cNvSpPr txBox="1"/>
          <p:nvPr/>
        </p:nvSpPr>
        <p:spPr>
          <a:xfrm>
            <a:off x="11045952" y="6510528"/>
            <a:ext cx="457200" cy="201168"/>
          </a:xfrm>
          <a:prstGeom prst="rect">
            <a:avLst/>
          </a:prstGeom>
          <a:noFill/>
        </p:spPr>
        <p:txBody>
          <a:bodyPr wrap="square" lIns="0" rIns="0" tIns="0" bIns="0" anchor="ctr">
            <a:spAutoFit/>
          </a:bodyPr>
          <a:lstStyle/>
          <a:p>
            <a:pPr algn="r">
              <a:lnSpc>
                <a:spcPct val="108000"/>
              </a:lnSpc>
              <a:spcAft>
                <a:spcPts val="0"/>
              </a:spcAft>
            </a:pPr>
            <a:r>
              <a:rPr sz="1000" b="0">
                <a:solidFill>
                  <a:srgbClr val="ADB9CA"/>
                </a:solidFill>
                <a:latin typeface="Arial"/>
              </a:rPr>
              <a:t>06</a:t>
            </a:r>
          </a:p>
        </p:txBody>
      </p:sp>
      <p:sp>
        <p:nvSpPr>
          <p:cNvPr id="8" name="Rounded Rectangle 7"/>
          <p:cNvSpPr/>
          <p:nvPr/>
        </p:nvSpPr>
        <p:spPr>
          <a:xfrm>
            <a:off x="713232" y="1938528"/>
            <a:ext cx="4956048" cy="2450592"/>
          </a:xfrm>
          <a:prstGeom prst="roundRect">
            <a:avLst>
              <a:gd name="adj" fmla="val 12000"/>
            </a:avLst>
          </a:prstGeom>
          <a:solidFill>
            <a:srgbClr val="3D2634"/>
          </a:solidFill>
          <a:ln w="15240">
            <a:solidFill>
              <a:srgbClr val="7944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231136"/>
            <a:ext cx="4407408" cy="374904"/>
          </a:xfrm>
          <a:prstGeom prst="rect">
            <a:avLst/>
          </a:prstGeom>
          <a:noFill/>
        </p:spPr>
        <p:txBody>
          <a:bodyPr wrap="square" lIns="0" rIns="0" tIns="0" bIns="0" anchor="ctr">
            <a:spAutoFit/>
          </a:bodyPr>
          <a:lstStyle/>
          <a:p>
            <a:pPr algn="l">
              <a:lnSpc>
                <a:spcPct val="108000"/>
              </a:lnSpc>
              <a:spcAft>
                <a:spcPts val="0"/>
              </a:spcAft>
            </a:pPr>
            <a:r>
              <a:rPr sz="1500" b="1">
                <a:solidFill>
                  <a:srgbClr val="FF7773"/>
                </a:solidFill>
                <a:latin typeface="Arial"/>
              </a:rPr>
              <a:t>THE SCORE SEEMS TO SAY</a:t>
            </a:r>
          </a:p>
        </p:txBody>
      </p:sp>
      <p:sp>
        <p:nvSpPr>
          <p:cNvPr id="10" name="TextBox 9"/>
          <p:cNvSpPr txBox="1"/>
          <p:nvPr/>
        </p:nvSpPr>
        <p:spPr>
          <a:xfrm>
            <a:off x="1014984" y="2916936"/>
            <a:ext cx="4407408" cy="621792"/>
          </a:xfrm>
          <a:prstGeom prst="rect">
            <a:avLst/>
          </a:prstGeom>
          <a:noFill/>
        </p:spPr>
        <p:txBody>
          <a:bodyPr wrap="square" lIns="0" rIns="0" tIns="0" bIns="0" anchor="ctr">
            <a:spAutoFit/>
          </a:bodyPr>
          <a:lstStyle/>
          <a:p>
            <a:pPr algn="l">
              <a:lnSpc>
                <a:spcPct val="108000"/>
              </a:lnSpc>
              <a:spcAft>
                <a:spcPts val="0"/>
              </a:spcAft>
            </a:pPr>
            <a:r>
              <a:rPr sz="3000" b="1">
                <a:solidFill>
                  <a:srgbClr val="F6F4EF"/>
                </a:solidFill>
                <a:latin typeface="Arial"/>
              </a:rPr>
              <a:t>"The AI failed."</a:t>
            </a:r>
          </a:p>
        </p:txBody>
      </p:sp>
      <p:sp>
        <p:nvSpPr>
          <p:cNvPr id="11" name="Rounded Rectangle 10"/>
          <p:cNvSpPr/>
          <p:nvPr/>
        </p:nvSpPr>
        <p:spPr>
          <a:xfrm>
            <a:off x="6528816" y="1938528"/>
            <a:ext cx="4956048" cy="2450592"/>
          </a:xfrm>
          <a:prstGeom prst="roundRect">
            <a:avLst>
              <a:gd name="adj" fmla="val 12000"/>
            </a:avLst>
          </a:prstGeom>
          <a:solidFill>
            <a:srgbClr val="173D3B"/>
          </a:solidFill>
          <a:ln w="15240">
            <a:solidFill>
              <a:srgbClr val="2A71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30568" y="2231136"/>
            <a:ext cx="4325112" cy="374904"/>
          </a:xfrm>
          <a:prstGeom prst="rect">
            <a:avLst/>
          </a:prstGeom>
          <a:noFill/>
        </p:spPr>
        <p:txBody>
          <a:bodyPr wrap="square" lIns="0" rIns="0" tIns="0" bIns="0" anchor="ctr">
            <a:spAutoFit/>
          </a:bodyPr>
          <a:lstStyle/>
          <a:p>
            <a:pPr algn="l">
              <a:lnSpc>
                <a:spcPct val="108000"/>
              </a:lnSpc>
              <a:spcAft>
                <a:spcPts val="0"/>
              </a:spcAft>
            </a:pPr>
            <a:r>
              <a:rPr sz="1500" b="1">
                <a:solidFill>
                  <a:srgbClr val="5DDFC4"/>
                </a:solidFill>
                <a:latin typeface="Arial"/>
              </a:rPr>
              <a:t>OUR RECORDS SHOW</a:t>
            </a:r>
          </a:p>
        </p:txBody>
      </p:sp>
      <p:sp>
        <p:nvSpPr>
          <p:cNvPr id="13" name="TextBox 12"/>
          <p:cNvSpPr txBox="1"/>
          <p:nvPr/>
        </p:nvSpPr>
        <p:spPr>
          <a:xfrm>
            <a:off x="6839712" y="2761488"/>
            <a:ext cx="4242816" cy="1143000"/>
          </a:xfrm>
          <a:prstGeom prst="rect">
            <a:avLst/>
          </a:prstGeom>
          <a:noFill/>
        </p:spPr>
        <p:txBody>
          <a:bodyPr wrap="square" lIns="0" rIns="0" tIns="0" bIns="0" anchor="ctr">
            <a:spAutoFit/>
          </a:bodyPr>
          <a:lstStyle/>
          <a:p>
            <a:pPr algn="l">
              <a:lnSpc>
                <a:spcPct val="108000"/>
              </a:lnSpc>
              <a:spcAft>
                <a:spcPts val="0"/>
              </a:spcAft>
            </a:pPr>
            <a:r>
              <a:rPr sz="2900" b="1">
                <a:solidFill>
                  <a:srgbClr val="F6F4EF"/>
                </a:solidFill>
                <a:latin typeface="Arial"/>
              </a:rPr>
              <a:t>The tests and</a:t>
            </a:r>
          </a:p>
          <a:p>
            <a:pPr algn="l">
              <a:lnSpc>
                <a:spcPct val="108000"/>
              </a:lnSpc>
              <a:spcAft>
                <a:spcPts val="0"/>
              </a:spcAft>
            </a:pPr>
            <a:r>
              <a:rPr sz="2900" b="1">
                <a:solidFill>
                  <a:srgbClr val="F6F4EF"/>
                </a:solidFill>
                <a:latin typeface="Arial"/>
              </a:rPr>
              <a:t>score disagreed.</a:t>
            </a:r>
          </a:p>
        </p:txBody>
      </p:sp>
      <p:sp>
        <p:nvSpPr>
          <p:cNvPr id="14" name="TextBox 13"/>
          <p:cNvSpPr txBox="1"/>
          <p:nvPr/>
        </p:nvSpPr>
        <p:spPr>
          <a:xfrm>
            <a:off x="1005840" y="4736592"/>
            <a:ext cx="10168128" cy="685800"/>
          </a:xfrm>
          <a:prstGeom prst="rect">
            <a:avLst/>
          </a:prstGeom>
          <a:noFill/>
        </p:spPr>
        <p:txBody>
          <a:bodyPr wrap="square" lIns="0" rIns="0" tIns="0" bIns="0" anchor="ctr">
            <a:spAutoFit/>
          </a:bodyPr>
          <a:lstStyle/>
          <a:p>
            <a:pPr algn="ctr">
              <a:lnSpc>
                <a:spcPct val="108000"/>
              </a:lnSpc>
              <a:spcAft>
                <a:spcPts val="0"/>
              </a:spcAft>
            </a:pPr>
            <a:r>
              <a:rPr sz="2200" b="1">
                <a:solidFill>
                  <a:srgbClr val="F6F4EF"/>
                </a:solidFill>
                <a:latin typeface="Arial"/>
              </a:rPr>
              <a:t>So this score cannot tell us whether the AI should have stopped trying.</a:t>
            </a:r>
          </a:p>
        </p:txBody>
      </p:sp>
      <p:sp>
        <p:nvSpPr>
          <p:cNvPr id="15" name="Rounded Rectangle 14"/>
          <p:cNvSpPr/>
          <p:nvPr/>
        </p:nvSpPr>
        <p:spPr>
          <a:xfrm>
            <a:off x="1389888" y="5577840"/>
            <a:ext cx="9418320" cy="438912"/>
          </a:xfrm>
          <a:prstGeom prst="roundRect">
            <a:avLst>
              <a:gd name="adj" fmla="val 12000"/>
            </a:avLst>
          </a:prstGeom>
          <a:solidFill>
            <a:srgbClr val="1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5596127"/>
            <a:ext cx="9217152" cy="402336"/>
          </a:xfrm>
          <a:prstGeom prst="rect">
            <a:avLst/>
          </a:prstGeom>
          <a:noFill/>
        </p:spPr>
        <p:txBody>
          <a:bodyPr wrap="square" lIns="0" rIns="0" tIns="0" bIns="0" anchor="ctr">
            <a:spAutoFit/>
          </a:bodyPr>
          <a:lstStyle/>
          <a:p>
            <a:pPr algn="ctr">
              <a:lnSpc>
                <a:spcPct val="108000"/>
              </a:lnSpc>
              <a:spcAft>
                <a:spcPts val="0"/>
              </a:spcAft>
            </a:pPr>
            <a:r>
              <a:rPr sz="1500" b="1">
                <a:solidFill>
                  <a:srgbClr val="FFC96E"/>
                </a:solidFill>
                <a:latin typeface="Arial"/>
              </a:rPr>
              <a:t>Passing our small tests does not prove the code fully safe.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9875520" cy="274320"/>
          </a:xfrm>
          <a:prstGeom prst="rect">
            <a:avLst/>
          </a:prstGeom>
          <a:noFill/>
        </p:spPr>
        <p:txBody>
          <a:bodyPr wrap="square" lIns="0" rIns="0" tIns="0" bIns="0" anchor="ctr">
            <a:spAutoFit/>
          </a:bodyPr>
          <a:lstStyle/>
          <a:p>
            <a:pPr algn="l">
              <a:lnSpc>
                <a:spcPct val="108000"/>
              </a:lnSpc>
              <a:spcAft>
                <a:spcPts val="0"/>
              </a:spcAft>
            </a:pPr>
            <a:r>
              <a:rPr sz="1100" b="1">
                <a:solidFill>
                  <a:srgbClr val="77A9FF"/>
                </a:solidFill>
                <a:latin typeface="Arial"/>
              </a:rPr>
              <a:t>OUR PROGRESS</a:t>
            </a:r>
          </a:p>
        </p:txBody>
      </p:sp>
      <p:sp>
        <p:nvSpPr>
          <p:cNvPr id="4" name="TextBox 3"/>
          <p:cNvSpPr txBox="1"/>
          <p:nvPr/>
        </p:nvSpPr>
        <p:spPr>
          <a:xfrm>
            <a:off x="640080" y="758952"/>
            <a:ext cx="10954512" cy="822960"/>
          </a:xfrm>
          <a:prstGeom prst="rect">
            <a:avLst/>
          </a:prstGeom>
          <a:noFill/>
        </p:spPr>
        <p:txBody>
          <a:bodyPr wrap="square" lIns="0" rIns="0" tIns="0" bIns="0" anchor="t">
            <a:spAutoFit/>
          </a:bodyPr>
          <a:lstStyle/>
          <a:p>
            <a:pPr algn="l">
              <a:lnSpc>
                <a:spcPct val="108000"/>
              </a:lnSpc>
              <a:spcAft>
                <a:spcPts val="0"/>
              </a:spcAft>
            </a:pPr>
            <a:r>
              <a:rPr sz="3500" b="1">
                <a:solidFill>
                  <a:srgbClr val="F6F4EF"/>
                </a:solidFill>
                <a:latin typeface="Arial"/>
              </a:rPr>
              <a:t>What we have done so far</a:t>
            </a:r>
          </a:p>
        </p:txBody>
      </p:sp>
      <p:cxnSp>
        <p:nvCxnSpPr>
          <p:cNvPr id="5" name="Connector 4"/>
          <p:cNvCxnSpPr/>
          <p:nvPr/>
        </p:nvCxnSpPr>
        <p:spPr>
          <a:xfrm>
            <a:off x="640080" y="6464808"/>
            <a:ext cx="10908792" cy="0"/>
          </a:xfrm>
          <a:prstGeom prst="line">
            <a:avLst/>
          </a:prstGeom>
          <a:ln w="19050">
            <a:solidFill>
              <a:srgbClr val="34445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6528816"/>
            <a:ext cx="10332720" cy="173736"/>
          </a:xfrm>
          <a:prstGeom prst="rect">
            <a:avLst/>
          </a:prstGeom>
          <a:noFill/>
        </p:spPr>
        <p:txBody>
          <a:bodyPr wrap="square" lIns="0" rIns="0" tIns="0" bIns="0" anchor="ctr">
            <a:spAutoFit/>
          </a:bodyPr>
          <a:lstStyle/>
          <a:p>
            <a:pPr algn="l">
              <a:lnSpc>
                <a:spcPct val="108000"/>
              </a:lnSpc>
              <a:spcAft>
                <a:spcPts val="0"/>
              </a:spcAft>
            </a:pPr>
            <a:r>
              <a:rPr sz="819" b="0">
                <a:solidFill>
                  <a:srgbClr val="ADB9CA"/>
                </a:solidFill>
                <a:latin typeface="Arial"/>
              </a:rPr>
              <a:t>Sources: README.md; docs/MEASUREMENT_FOLLOWUP_20261030.md; docs/V7_DECISIVE_EXCLUDED_PILOT_20261005.md.</a:t>
            </a:r>
          </a:p>
        </p:txBody>
      </p:sp>
      <p:sp>
        <p:nvSpPr>
          <p:cNvPr id="7" name="TextBox 6"/>
          <p:cNvSpPr txBox="1"/>
          <p:nvPr/>
        </p:nvSpPr>
        <p:spPr>
          <a:xfrm>
            <a:off x="11045952" y="6510528"/>
            <a:ext cx="457200" cy="201168"/>
          </a:xfrm>
          <a:prstGeom prst="rect">
            <a:avLst/>
          </a:prstGeom>
          <a:noFill/>
        </p:spPr>
        <p:txBody>
          <a:bodyPr wrap="square" lIns="0" rIns="0" tIns="0" bIns="0" anchor="ctr">
            <a:spAutoFit/>
          </a:bodyPr>
          <a:lstStyle/>
          <a:p>
            <a:pPr algn="r">
              <a:lnSpc>
                <a:spcPct val="108000"/>
              </a:lnSpc>
              <a:spcAft>
                <a:spcPts val="0"/>
              </a:spcAft>
            </a:pPr>
            <a:r>
              <a:rPr sz="1000" b="0">
                <a:solidFill>
                  <a:srgbClr val="ADB9CA"/>
                </a:solidFill>
                <a:latin typeface="Arial"/>
              </a:rPr>
              <a:t>07</a:t>
            </a:r>
          </a:p>
        </p:txBody>
      </p:sp>
      <p:sp>
        <p:nvSpPr>
          <p:cNvPr id="8" name="Rounded Rectangle 7"/>
          <p:cNvSpPr/>
          <p:nvPr/>
        </p:nvSpPr>
        <p:spPr>
          <a:xfrm>
            <a:off x="731520" y="1892807"/>
            <a:ext cx="5230368" cy="1682496"/>
          </a:xfrm>
          <a:prstGeom prst="roundRect">
            <a:avLst>
              <a:gd name="adj" fmla="val 12000"/>
            </a:avLst>
          </a:prstGeom>
          <a:solidFill>
            <a:srgbClr val="17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2148839"/>
            <a:ext cx="1161288" cy="1060704"/>
          </a:xfrm>
          <a:prstGeom prst="rect">
            <a:avLst/>
          </a:prstGeom>
          <a:noFill/>
        </p:spPr>
        <p:txBody>
          <a:bodyPr wrap="square" lIns="0" rIns="0" tIns="0" bIns="0" anchor="ctr">
            <a:spAutoFit/>
          </a:bodyPr>
          <a:lstStyle/>
          <a:p>
            <a:pPr algn="ctr">
              <a:lnSpc>
                <a:spcPct val="108000"/>
              </a:lnSpc>
              <a:spcAft>
                <a:spcPts val="0"/>
              </a:spcAft>
            </a:pPr>
            <a:r>
              <a:rPr sz="4400" b="1">
                <a:solidFill>
                  <a:srgbClr val="77A9FF"/>
                </a:solidFill>
                <a:latin typeface="Arial"/>
              </a:rPr>
              <a:t>40</a:t>
            </a:r>
          </a:p>
        </p:txBody>
      </p:sp>
      <p:sp>
        <p:nvSpPr>
          <p:cNvPr id="10" name="TextBox 9"/>
          <p:cNvSpPr txBox="1"/>
          <p:nvPr/>
        </p:nvSpPr>
        <p:spPr>
          <a:xfrm>
            <a:off x="2377440" y="2157984"/>
            <a:ext cx="3282696" cy="1042415"/>
          </a:xfrm>
          <a:prstGeom prst="rect">
            <a:avLst/>
          </a:prstGeom>
          <a:noFill/>
        </p:spPr>
        <p:txBody>
          <a:bodyPr wrap="square" lIns="0" rIns="0" tIns="0" bIns="0" anchor="ctr">
            <a:spAutoFit/>
          </a:bodyPr>
          <a:lstStyle/>
          <a:p>
            <a:pPr algn="l">
              <a:lnSpc>
                <a:spcPct val="108000"/>
              </a:lnSpc>
              <a:spcAft>
                <a:spcPts val="0"/>
              </a:spcAft>
            </a:pPr>
            <a:r>
              <a:rPr sz="2300" b="1">
                <a:solidFill>
                  <a:srgbClr val="F6F4EF"/>
                </a:solidFill>
                <a:latin typeface="Arial"/>
              </a:rPr>
              <a:t>old AI runs</a:t>
            </a:r>
          </a:p>
          <a:p>
            <a:pPr algn="l">
              <a:lnSpc>
                <a:spcPct val="108000"/>
              </a:lnSpc>
              <a:spcAft>
                <a:spcPts val="0"/>
              </a:spcAft>
            </a:pPr>
            <a:r>
              <a:rPr sz="2300" b="1">
                <a:solidFill>
                  <a:srgbClr val="F6F4EF"/>
                </a:solidFill>
                <a:latin typeface="Arial"/>
              </a:rPr>
              <a:t>checked again</a:t>
            </a:r>
          </a:p>
        </p:txBody>
      </p:sp>
      <p:sp>
        <p:nvSpPr>
          <p:cNvPr id="11" name="Rounded Rectangle 10"/>
          <p:cNvSpPr/>
          <p:nvPr/>
        </p:nvSpPr>
        <p:spPr>
          <a:xfrm>
            <a:off x="6190488" y="1892807"/>
            <a:ext cx="5230368" cy="1682496"/>
          </a:xfrm>
          <a:prstGeom prst="roundRect">
            <a:avLst>
              <a:gd name="adj" fmla="val 12000"/>
            </a:avLst>
          </a:prstGeom>
          <a:solidFill>
            <a:srgbClr val="17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148839"/>
            <a:ext cx="1161288" cy="1060704"/>
          </a:xfrm>
          <a:prstGeom prst="rect">
            <a:avLst/>
          </a:prstGeom>
          <a:noFill/>
        </p:spPr>
        <p:txBody>
          <a:bodyPr wrap="square" lIns="0" rIns="0" tIns="0" bIns="0" anchor="ctr">
            <a:spAutoFit/>
          </a:bodyPr>
          <a:lstStyle/>
          <a:p>
            <a:pPr algn="ctr">
              <a:lnSpc>
                <a:spcPct val="108000"/>
              </a:lnSpc>
              <a:spcAft>
                <a:spcPts val="0"/>
              </a:spcAft>
            </a:pPr>
            <a:r>
              <a:rPr sz="4400" b="1">
                <a:solidFill>
                  <a:srgbClr val="5DDFC4"/>
                </a:solidFill>
                <a:latin typeface="Arial"/>
              </a:rPr>
              <a:t>20</a:t>
            </a:r>
          </a:p>
        </p:txBody>
      </p:sp>
      <p:sp>
        <p:nvSpPr>
          <p:cNvPr id="13" name="TextBox 12"/>
          <p:cNvSpPr txBox="1"/>
          <p:nvPr/>
        </p:nvSpPr>
        <p:spPr>
          <a:xfrm>
            <a:off x="7836408" y="2157984"/>
            <a:ext cx="3282696" cy="1042415"/>
          </a:xfrm>
          <a:prstGeom prst="rect">
            <a:avLst/>
          </a:prstGeom>
          <a:noFill/>
        </p:spPr>
        <p:txBody>
          <a:bodyPr wrap="square" lIns="0" rIns="0" tIns="0" bIns="0" anchor="ctr">
            <a:spAutoFit/>
          </a:bodyPr>
          <a:lstStyle/>
          <a:p>
            <a:pPr algn="l">
              <a:lnSpc>
                <a:spcPct val="108000"/>
              </a:lnSpc>
              <a:spcAft>
                <a:spcPts val="0"/>
              </a:spcAft>
            </a:pPr>
            <a:r>
              <a:rPr sz="2300" b="1">
                <a:solidFill>
                  <a:srgbClr val="F6F4EF"/>
                </a:solidFill>
                <a:latin typeface="Arial"/>
              </a:rPr>
              <a:t>new kinds of tasks</a:t>
            </a:r>
          </a:p>
          <a:p>
            <a:pPr algn="l">
              <a:lnSpc>
                <a:spcPct val="108000"/>
              </a:lnSpc>
              <a:spcAft>
                <a:spcPts val="0"/>
              </a:spcAft>
            </a:pPr>
            <a:r>
              <a:rPr sz="2300" b="1">
                <a:solidFill>
                  <a:srgbClr val="F6F4EF"/>
                </a:solidFill>
                <a:latin typeface="Arial"/>
              </a:rPr>
              <a:t>drafted</a:t>
            </a:r>
          </a:p>
        </p:txBody>
      </p:sp>
      <p:sp>
        <p:nvSpPr>
          <p:cNvPr id="14" name="Rounded Rectangle 13"/>
          <p:cNvSpPr/>
          <p:nvPr/>
        </p:nvSpPr>
        <p:spPr>
          <a:xfrm>
            <a:off x="731520" y="3931920"/>
            <a:ext cx="5230368" cy="1682496"/>
          </a:xfrm>
          <a:prstGeom prst="roundRect">
            <a:avLst>
              <a:gd name="adj" fmla="val 12000"/>
            </a:avLst>
          </a:prstGeom>
          <a:solidFill>
            <a:srgbClr val="17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4187952"/>
            <a:ext cx="1161288" cy="1060704"/>
          </a:xfrm>
          <a:prstGeom prst="rect">
            <a:avLst/>
          </a:prstGeom>
          <a:noFill/>
        </p:spPr>
        <p:txBody>
          <a:bodyPr wrap="square" lIns="0" rIns="0" tIns="0" bIns="0" anchor="ctr">
            <a:spAutoFit/>
          </a:bodyPr>
          <a:lstStyle/>
          <a:p>
            <a:pPr algn="ctr">
              <a:lnSpc>
                <a:spcPct val="108000"/>
              </a:lnSpc>
              <a:spcAft>
                <a:spcPts val="0"/>
              </a:spcAft>
            </a:pPr>
            <a:r>
              <a:rPr sz="4400" b="1">
                <a:solidFill>
                  <a:srgbClr val="FFC96E"/>
                </a:solidFill>
                <a:latin typeface="Arial"/>
              </a:rPr>
              <a:t>30</a:t>
            </a:r>
          </a:p>
        </p:txBody>
      </p:sp>
      <p:sp>
        <p:nvSpPr>
          <p:cNvPr id="16" name="TextBox 15"/>
          <p:cNvSpPr txBox="1"/>
          <p:nvPr/>
        </p:nvSpPr>
        <p:spPr>
          <a:xfrm>
            <a:off x="2377440" y="4197096"/>
            <a:ext cx="3282696" cy="1042415"/>
          </a:xfrm>
          <a:prstGeom prst="rect">
            <a:avLst/>
          </a:prstGeom>
          <a:noFill/>
        </p:spPr>
        <p:txBody>
          <a:bodyPr wrap="square" lIns="0" rIns="0" tIns="0" bIns="0" anchor="ctr">
            <a:spAutoFit/>
          </a:bodyPr>
          <a:lstStyle/>
          <a:p>
            <a:pPr algn="l">
              <a:lnSpc>
                <a:spcPct val="108000"/>
              </a:lnSpc>
              <a:spcAft>
                <a:spcPts val="0"/>
              </a:spcAft>
            </a:pPr>
            <a:r>
              <a:rPr sz="2300" b="1">
                <a:solidFill>
                  <a:srgbClr val="F6F4EF"/>
                </a:solidFill>
                <a:latin typeface="Arial"/>
              </a:rPr>
              <a:t>separate practice</a:t>
            </a:r>
          </a:p>
          <a:p>
            <a:pPr algn="l">
              <a:lnSpc>
                <a:spcPct val="108000"/>
              </a:lnSpc>
              <a:spcAft>
                <a:spcPts val="0"/>
              </a:spcAft>
            </a:pPr>
            <a:r>
              <a:rPr sz="2300" b="1">
                <a:solidFill>
                  <a:srgbClr val="F6F4EF"/>
                </a:solidFill>
                <a:latin typeface="Arial"/>
              </a:rPr>
              <a:t>runs completed</a:t>
            </a:r>
          </a:p>
        </p:txBody>
      </p:sp>
      <p:sp>
        <p:nvSpPr>
          <p:cNvPr id="17" name="Rounded Rectangle 16"/>
          <p:cNvSpPr/>
          <p:nvPr/>
        </p:nvSpPr>
        <p:spPr>
          <a:xfrm>
            <a:off x="6190488" y="3931920"/>
            <a:ext cx="5230368" cy="1682496"/>
          </a:xfrm>
          <a:prstGeom prst="roundRect">
            <a:avLst>
              <a:gd name="adj" fmla="val 12000"/>
            </a:avLst>
          </a:prstGeom>
          <a:solidFill>
            <a:srgbClr val="17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4187952"/>
            <a:ext cx="1161288" cy="1060704"/>
          </a:xfrm>
          <a:prstGeom prst="rect">
            <a:avLst/>
          </a:prstGeom>
          <a:noFill/>
        </p:spPr>
        <p:txBody>
          <a:bodyPr wrap="square" lIns="0" rIns="0" tIns="0" bIns="0" anchor="ctr">
            <a:spAutoFit/>
          </a:bodyPr>
          <a:lstStyle/>
          <a:p>
            <a:pPr algn="ctr">
              <a:lnSpc>
                <a:spcPct val="108000"/>
              </a:lnSpc>
              <a:spcAft>
                <a:spcPts val="0"/>
              </a:spcAft>
            </a:pPr>
            <a:r>
              <a:rPr sz="4400" b="1">
                <a:solidFill>
                  <a:srgbClr val="FF7773"/>
                </a:solidFill>
                <a:latin typeface="Arial"/>
              </a:rPr>
              <a:t>✓</a:t>
            </a:r>
          </a:p>
        </p:txBody>
      </p:sp>
      <p:sp>
        <p:nvSpPr>
          <p:cNvPr id="19" name="TextBox 18"/>
          <p:cNvSpPr txBox="1"/>
          <p:nvPr/>
        </p:nvSpPr>
        <p:spPr>
          <a:xfrm>
            <a:off x="7836408" y="4197096"/>
            <a:ext cx="3282696" cy="1042415"/>
          </a:xfrm>
          <a:prstGeom prst="rect">
            <a:avLst/>
          </a:prstGeom>
          <a:noFill/>
        </p:spPr>
        <p:txBody>
          <a:bodyPr wrap="square" lIns="0" rIns="0" tIns="0" bIns="0" anchor="ctr">
            <a:spAutoFit/>
          </a:bodyPr>
          <a:lstStyle/>
          <a:p>
            <a:pPr algn="l">
              <a:lnSpc>
                <a:spcPct val="108000"/>
              </a:lnSpc>
              <a:spcAft>
                <a:spcPts val="0"/>
              </a:spcAft>
            </a:pPr>
            <a:r>
              <a:rPr sz="2300" b="1">
                <a:solidFill>
                  <a:srgbClr val="F6F4EF"/>
                </a:solidFill>
                <a:latin typeface="Arial"/>
              </a:rPr>
              <a:t>code and analyses</a:t>
            </a:r>
          </a:p>
          <a:p>
            <a:pPr algn="l">
              <a:lnSpc>
                <a:spcPct val="108000"/>
              </a:lnSpc>
              <a:spcAft>
                <a:spcPts val="0"/>
              </a:spcAft>
            </a:pPr>
            <a:r>
              <a:rPr sz="2300" b="1">
                <a:solidFill>
                  <a:srgbClr val="F6F4EF"/>
                </a:solidFill>
                <a:latin typeface="Arial"/>
              </a:rPr>
              <a:t>shared online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9875520" cy="274320"/>
          </a:xfrm>
          <a:prstGeom prst="rect">
            <a:avLst/>
          </a:prstGeom>
          <a:noFill/>
        </p:spPr>
        <p:txBody>
          <a:bodyPr wrap="square" lIns="0" rIns="0" tIns="0" bIns="0" anchor="ctr">
            <a:spAutoFit/>
          </a:bodyPr>
          <a:lstStyle/>
          <a:p>
            <a:pPr algn="l">
              <a:lnSpc>
                <a:spcPct val="108000"/>
              </a:lnSpc>
              <a:spcAft>
                <a:spcPts val="0"/>
              </a:spcAft>
            </a:pPr>
            <a:r>
              <a:rPr sz="1100" b="1">
                <a:solidFill>
                  <a:srgbClr val="77A9FF"/>
                </a:solidFill>
                <a:latin typeface="Arial"/>
              </a:rPr>
              <a:t>WHAT COMES NEXT?</a:t>
            </a:r>
          </a:p>
        </p:txBody>
      </p:sp>
      <p:sp>
        <p:nvSpPr>
          <p:cNvPr id="4" name="TextBox 3"/>
          <p:cNvSpPr txBox="1"/>
          <p:nvPr/>
        </p:nvSpPr>
        <p:spPr>
          <a:xfrm>
            <a:off x="640080" y="758952"/>
            <a:ext cx="10954512" cy="822960"/>
          </a:xfrm>
          <a:prstGeom prst="rect">
            <a:avLst/>
          </a:prstGeom>
          <a:noFill/>
        </p:spPr>
        <p:txBody>
          <a:bodyPr wrap="square" lIns="0" rIns="0" tIns="0" bIns="0" anchor="t">
            <a:spAutoFit/>
          </a:bodyPr>
          <a:lstStyle/>
          <a:p>
            <a:pPr algn="l">
              <a:lnSpc>
                <a:spcPct val="108000"/>
              </a:lnSpc>
              <a:spcAft>
                <a:spcPts val="0"/>
              </a:spcAft>
            </a:pPr>
            <a:r>
              <a:rPr sz="3500" b="1">
                <a:solidFill>
                  <a:srgbClr val="F6F4EF"/>
                </a:solidFill>
                <a:latin typeface="Arial"/>
              </a:rPr>
              <a:t>Same code. Two different messages.</a:t>
            </a:r>
          </a:p>
        </p:txBody>
      </p:sp>
      <p:cxnSp>
        <p:nvCxnSpPr>
          <p:cNvPr id="5" name="Connector 4"/>
          <p:cNvCxnSpPr/>
          <p:nvPr/>
        </p:nvCxnSpPr>
        <p:spPr>
          <a:xfrm>
            <a:off x="640080" y="6464808"/>
            <a:ext cx="10908792" cy="0"/>
          </a:xfrm>
          <a:prstGeom prst="line">
            <a:avLst/>
          </a:prstGeom>
          <a:ln w="19050">
            <a:solidFill>
              <a:srgbClr val="34445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6528816"/>
            <a:ext cx="10332720" cy="173736"/>
          </a:xfrm>
          <a:prstGeom prst="rect">
            <a:avLst/>
          </a:prstGeom>
          <a:noFill/>
        </p:spPr>
        <p:txBody>
          <a:bodyPr wrap="square" lIns="0" rIns="0" tIns="0" bIns="0" anchor="ctr">
            <a:spAutoFit/>
          </a:bodyPr>
          <a:lstStyle/>
          <a:p>
            <a:pPr algn="l">
              <a:lnSpc>
                <a:spcPct val="108000"/>
              </a:lnSpc>
              <a:spcAft>
                <a:spcPts val="0"/>
              </a:spcAft>
            </a:pPr>
            <a:r>
              <a:rPr sz="819" b="0">
                <a:solidFill>
                  <a:srgbClr val="ADB9CA"/>
                </a:solidFill>
                <a:latin typeface="Arial"/>
              </a:rPr>
              <a:t>Planned study: docs/INTEGRATED_STUDY_EXTENSION_20261018.md.</a:t>
            </a:r>
          </a:p>
        </p:txBody>
      </p:sp>
      <p:sp>
        <p:nvSpPr>
          <p:cNvPr id="7" name="TextBox 6"/>
          <p:cNvSpPr txBox="1"/>
          <p:nvPr/>
        </p:nvSpPr>
        <p:spPr>
          <a:xfrm>
            <a:off x="11045952" y="6510528"/>
            <a:ext cx="457200" cy="201168"/>
          </a:xfrm>
          <a:prstGeom prst="rect">
            <a:avLst/>
          </a:prstGeom>
          <a:noFill/>
        </p:spPr>
        <p:txBody>
          <a:bodyPr wrap="square" lIns="0" rIns="0" tIns="0" bIns="0" anchor="ctr">
            <a:spAutoFit/>
          </a:bodyPr>
          <a:lstStyle/>
          <a:p>
            <a:pPr algn="r">
              <a:lnSpc>
                <a:spcPct val="108000"/>
              </a:lnSpc>
              <a:spcAft>
                <a:spcPts val="0"/>
              </a:spcAft>
            </a:pPr>
            <a:r>
              <a:rPr sz="1000" b="0">
                <a:solidFill>
                  <a:srgbClr val="ADB9CA"/>
                </a:solidFill>
                <a:latin typeface="Arial"/>
              </a:rPr>
              <a:t>08</a:t>
            </a:r>
          </a:p>
        </p:txBody>
      </p:sp>
      <p:sp>
        <p:nvSpPr>
          <p:cNvPr id="8" name="Rounded Rectangle 7"/>
          <p:cNvSpPr/>
          <p:nvPr/>
        </p:nvSpPr>
        <p:spPr>
          <a:xfrm>
            <a:off x="3785615" y="1783080"/>
            <a:ext cx="4626864" cy="877824"/>
          </a:xfrm>
          <a:prstGeom prst="roundRect">
            <a:avLst>
              <a:gd name="adj" fmla="val 12000"/>
            </a:avLst>
          </a:prstGeom>
          <a:solidFill>
            <a:srgbClr val="1D2B45"/>
          </a:solidFill>
          <a:ln w="15240">
            <a:solidFill>
              <a:srgbClr val="3444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41648" y="1984248"/>
            <a:ext cx="4096512" cy="484632"/>
          </a:xfrm>
          <a:prstGeom prst="rect">
            <a:avLst/>
          </a:prstGeom>
          <a:noFill/>
        </p:spPr>
        <p:txBody>
          <a:bodyPr wrap="square" lIns="0" rIns="0" tIns="0" bIns="0" anchor="ctr">
            <a:spAutoFit/>
          </a:bodyPr>
          <a:lstStyle/>
          <a:p>
            <a:pPr algn="ctr">
              <a:lnSpc>
                <a:spcPct val="108000"/>
              </a:lnSpc>
              <a:spcAft>
                <a:spcPts val="0"/>
              </a:spcAft>
            </a:pPr>
            <a:r>
              <a:rPr sz="2100" b="1">
                <a:solidFill>
                  <a:srgbClr val="F6F4EF"/>
                </a:solidFill>
                <a:latin typeface="Arial"/>
              </a:rPr>
              <a:t>The same checked code</a:t>
            </a:r>
          </a:p>
        </p:txBody>
      </p:sp>
      <p:cxnSp>
        <p:nvCxnSpPr>
          <p:cNvPr id="10" name="Connector 9"/>
          <p:cNvCxnSpPr/>
          <p:nvPr/>
        </p:nvCxnSpPr>
        <p:spPr>
          <a:xfrm>
            <a:off x="6099048" y="2660904"/>
            <a:ext cx="0" cy="402336"/>
          </a:xfrm>
          <a:prstGeom prst="line">
            <a:avLst/>
          </a:prstGeom>
          <a:ln w="25400">
            <a:solidFill>
              <a:srgbClr val="77A9F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355848" y="3063240"/>
            <a:ext cx="5486400" cy="0"/>
          </a:xfrm>
          <a:prstGeom prst="line">
            <a:avLst/>
          </a:prstGeom>
          <a:ln w="25400">
            <a:solidFill>
              <a:srgbClr val="77A9F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355848" y="3063240"/>
            <a:ext cx="0" cy="283464"/>
          </a:xfrm>
          <a:prstGeom prst="line">
            <a:avLst/>
          </a:prstGeom>
          <a:ln w="25400">
            <a:solidFill>
              <a:srgbClr val="77A9F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42248" y="3063240"/>
            <a:ext cx="0" cy="283464"/>
          </a:xfrm>
          <a:prstGeom prst="line">
            <a:avLst/>
          </a:prstGeom>
          <a:ln w="25400">
            <a:solidFill>
              <a:srgbClr val="77A9FF"/>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069848" y="3346704"/>
            <a:ext cx="4608576" cy="1069848"/>
          </a:xfrm>
          <a:prstGeom prst="roundRect">
            <a:avLst>
              <a:gd name="adj" fmla="val 12000"/>
            </a:avLst>
          </a:prstGeom>
          <a:solidFill>
            <a:srgbClr val="173D3B"/>
          </a:solidFill>
          <a:ln w="15240">
            <a:solidFill>
              <a:srgbClr val="2A71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44168" y="3621024"/>
            <a:ext cx="4059936" cy="548640"/>
          </a:xfrm>
          <a:prstGeom prst="rect">
            <a:avLst/>
          </a:prstGeom>
          <a:noFill/>
        </p:spPr>
        <p:txBody>
          <a:bodyPr wrap="square" lIns="0" rIns="0" tIns="0" bIns="0" anchor="ctr">
            <a:spAutoFit/>
          </a:bodyPr>
          <a:lstStyle/>
          <a:p>
            <a:pPr algn="ctr">
              <a:lnSpc>
                <a:spcPct val="108000"/>
              </a:lnSpc>
              <a:spcAft>
                <a:spcPts val="0"/>
              </a:spcAft>
            </a:pPr>
            <a:r>
              <a:rPr sz="2400" b="1">
                <a:solidFill>
                  <a:srgbClr val="5DDFC4"/>
                </a:solidFill>
                <a:latin typeface="Arial"/>
              </a:rPr>
              <a:t>AI hears true PASS</a:t>
            </a:r>
          </a:p>
        </p:txBody>
      </p:sp>
      <p:sp>
        <p:nvSpPr>
          <p:cNvPr id="16" name="Rounded Rectangle 15"/>
          <p:cNvSpPr/>
          <p:nvPr/>
        </p:nvSpPr>
        <p:spPr>
          <a:xfrm>
            <a:off x="6519672" y="3346704"/>
            <a:ext cx="4608576" cy="1069848"/>
          </a:xfrm>
          <a:prstGeom prst="roundRect">
            <a:avLst>
              <a:gd name="adj" fmla="val 12000"/>
            </a:avLst>
          </a:prstGeom>
          <a:solidFill>
            <a:srgbClr val="3D2634"/>
          </a:solidFill>
          <a:ln w="15240">
            <a:solidFill>
              <a:srgbClr val="7944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621024"/>
            <a:ext cx="4050791" cy="548640"/>
          </a:xfrm>
          <a:prstGeom prst="rect">
            <a:avLst/>
          </a:prstGeom>
          <a:noFill/>
        </p:spPr>
        <p:txBody>
          <a:bodyPr wrap="square" lIns="0" rIns="0" tIns="0" bIns="0" anchor="ctr">
            <a:spAutoFit/>
          </a:bodyPr>
          <a:lstStyle/>
          <a:p>
            <a:pPr algn="ctr">
              <a:lnSpc>
                <a:spcPct val="108000"/>
              </a:lnSpc>
              <a:spcAft>
                <a:spcPts val="0"/>
              </a:spcAft>
            </a:pPr>
            <a:r>
              <a:rPr sz="2400" b="1">
                <a:solidFill>
                  <a:srgbClr val="FF7773"/>
                </a:solidFill>
                <a:latin typeface="Arial"/>
              </a:rPr>
              <a:t>AI hears false FAIL</a:t>
            </a:r>
          </a:p>
        </p:txBody>
      </p:sp>
      <p:sp>
        <p:nvSpPr>
          <p:cNvPr id="18" name="TextBox 17"/>
          <p:cNvSpPr txBox="1"/>
          <p:nvPr/>
        </p:nvSpPr>
        <p:spPr>
          <a:xfrm>
            <a:off x="914400" y="4718304"/>
            <a:ext cx="10378440" cy="521207"/>
          </a:xfrm>
          <a:prstGeom prst="rect">
            <a:avLst/>
          </a:prstGeom>
          <a:noFill/>
        </p:spPr>
        <p:txBody>
          <a:bodyPr wrap="square" lIns="0" rIns="0" tIns="0" bIns="0" anchor="ctr">
            <a:spAutoFit/>
          </a:bodyPr>
          <a:lstStyle/>
          <a:p>
            <a:pPr algn="ctr">
              <a:lnSpc>
                <a:spcPct val="108000"/>
              </a:lnSpc>
              <a:spcAft>
                <a:spcPts val="0"/>
              </a:spcAft>
            </a:pPr>
            <a:r>
              <a:rPr sz="2500" b="1">
                <a:solidFill>
                  <a:srgbClr val="F6F4EF"/>
                </a:solidFill>
                <a:latin typeface="Arial"/>
              </a:rPr>
              <a:t>Does the wrong message make it lose the fix?</a:t>
            </a:r>
          </a:p>
        </p:txBody>
      </p:sp>
      <p:sp>
        <p:nvSpPr>
          <p:cNvPr id="19" name="Rounded Rectangle 18"/>
          <p:cNvSpPr/>
          <p:nvPr/>
        </p:nvSpPr>
        <p:spPr>
          <a:xfrm>
            <a:off x="2532888" y="5422392"/>
            <a:ext cx="7132320" cy="448056"/>
          </a:xfrm>
          <a:prstGeom prst="roundRect">
            <a:avLst>
              <a:gd name="adj" fmla="val 12000"/>
            </a:avLst>
          </a:prstGeom>
          <a:solidFill>
            <a:srgbClr val="1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33472" y="5440679"/>
            <a:ext cx="6931152" cy="411480"/>
          </a:xfrm>
          <a:prstGeom prst="rect">
            <a:avLst/>
          </a:prstGeom>
          <a:noFill/>
        </p:spPr>
        <p:txBody>
          <a:bodyPr wrap="square" lIns="0" rIns="0" tIns="0" bIns="0" anchor="ctr">
            <a:spAutoFit/>
          </a:bodyPr>
          <a:lstStyle/>
          <a:p>
            <a:pPr algn="ctr">
              <a:lnSpc>
                <a:spcPct val="108000"/>
              </a:lnSpc>
              <a:spcAft>
                <a:spcPts val="0"/>
              </a:spcAft>
            </a:pPr>
            <a:r>
              <a:rPr sz="1500" b="1">
                <a:solidFill>
                  <a:srgbClr val="77A9FF"/>
                </a:solidFill>
                <a:latin typeface="Arial"/>
              </a:rPr>
              <a:t>PLANNED: this larger test has no results yet.</a:t>
            </a:r>
          </a:p>
        </p:txBody>
      </p:sp>
      <p:sp>
        <p:nvSpPr>
          <p:cNvPr id="21" name="TextBox 20"/>
          <p:cNvSpPr txBox="1"/>
          <p:nvPr/>
        </p:nvSpPr>
        <p:spPr>
          <a:xfrm>
            <a:off x="941832" y="5989320"/>
            <a:ext cx="7086600" cy="310896"/>
          </a:xfrm>
          <a:prstGeom prst="rect">
            <a:avLst/>
          </a:prstGeom>
          <a:noFill/>
        </p:spPr>
        <p:txBody>
          <a:bodyPr wrap="square" lIns="0" rIns="0" tIns="0" bIns="0" anchor="ctr">
            <a:spAutoFit/>
          </a:bodyPr>
          <a:lstStyle/>
          <a:p>
            <a:pPr algn="l">
              <a:lnSpc>
                <a:spcPct val="108000"/>
              </a:lnSpc>
              <a:spcAft>
                <a:spcPts val="0"/>
              </a:spcAft>
            </a:pPr>
            <a:r>
              <a:rPr sz="2000" b="1">
                <a:solidFill>
                  <a:srgbClr val="FFC96E"/>
                </a:solidFill>
                <a:latin typeface="Arial"/>
              </a:rPr>
              <a:t>Before judging the AI, check the grader.</a:t>
            </a:r>
          </a:p>
        </p:txBody>
      </p:sp>
      <p:sp>
        <p:nvSpPr>
          <p:cNvPr id="22" name="TextBox 21"/>
          <p:cNvSpPr txBox="1"/>
          <p:nvPr/>
        </p:nvSpPr>
        <p:spPr>
          <a:xfrm>
            <a:off x="7799831" y="5989320"/>
            <a:ext cx="3465576" cy="310896"/>
          </a:xfrm>
          <a:prstGeom prst="rect">
            <a:avLst/>
          </a:prstGeom>
          <a:noFill/>
        </p:spPr>
        <p:txBody>
          <a:bodyPr wrap="square" lIns="0" rIns="0" tIns="0" bIns="0" anchor="ctr">
            <a:spAutoFit/>
          </a:bodyPr>
          <a:lstStyle/>
          <a:p>
            <a:pPr algn="r">
              <a:lnSpc>
                <a:spcPct val="108000"/>
              </a:lnSpc>
              <a:spcAft>
                <a:spcPts val="0"/>
              </a:spcAft>
            </a:pPr>
            <a:r>
              <a:rPr sz="1350" b="1">
                <a:solidFill>
                  <a:srgbClr val="77A9FF"/>
                </a:solidFill>
                <a:latin typeface="Arial"/>
              </a:rPr>
              <a:t>github.com/Imranqsl212/AiResearch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Our Tests Said PASS. Our Grader Said FAIL.</dc:title>
  <dc:subject>Plain-language research progress presentation</dc:subject>
  <dc:creator>Imran Zakirov</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